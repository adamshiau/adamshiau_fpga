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79" r:id="rId5"/>
    <p:sldId id="258" r:id="rId6"/>
    <p:sldId id="259" r:id="rId7"/>
    <p:sldId id="260" r:id="rId8"/>
    <p:sldId id="261"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7FE6F5-3D80-B2CB-4CCC-A311B4AACAE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2580B40-CD19-0B07-2732-ACCE48691D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B8AC8F4-DBBF-589D-8FEA-A0D80DC23FA9}"/>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FE525847-6AC0-192C-AB57-DC343A82F9F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180918-2A46-D310-7F9F-B35EE6BB6D38}"/>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4176947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CD0876-D2C5-E6E5-24AB-C2B00838F37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F61E39A-1F39-751D-ADEC-954466C70CD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DD48657-BACE-541D-5958-09D118A6F3E4}"/>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A047E470-80C8-699D-1E6D-4DFC502C618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5F653F4-48FA-6F66-DDA0-0EF0F030168D}"/>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205031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53F0AD-9A52-BF6A-CE40-E20829FFD82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BAA0B58-4B8D-D52F-C2FE-E4995FCC76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082B717-4761-8BF5-A45A-BBB000F69A4D}"/>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66A98ADA-4C3B-5466-1A2B-16E5593A961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70D3591-1DF3-88C4-79C3-2B40DCAA4023}"/>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409141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DF2D3D-BB77-AA39-A1F0-5D52D7477A0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FC60511-CCA4-EE11-463B-410AE816E505}"/>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26CF8FF-333D-11A3-FC06-AC7EBEA77E7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B9464DE-668E-BABA-5DC3-1F6EDC78D61F}"/>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6" name="頁尾版面配置區 5">
            <a:extLst>
              <a:ext uri="{FF2B5EF4-FFF2-40B4-BE49-F238E27FC236}">
                <a16:creationId xmlns:a16="http://schemas.microsoft.com/office/drawing/2014/main" id="{538535BF-0035-3275-9912-04B91B129C7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27738D8-63F9-A82A-6545-AD5AF1734803}"/>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1455366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9660E5-6B46-160A-05B2-01AE6B43A79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BD1F640-1E4D-B9D9-06CD-00945891C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62AF7AF-D262-2158-FE9D-594A3CBC564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B2DA661-D5DF-0672-C559-EF344CF1B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673CE3BD-0644-004D-E5E3-C5BBD8CB7A2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06AE27D-E7FA-4D7D-ABA0-A492A7F1A7F5}"/>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8" name="頁尾版面配置區 7">
            <a:extLst>
              <a:ext uri="{FF2B5EF4-FFF2-40B4-BE49-F238E27FC236}">
                <a16:creationId xmlns:a16="http://schemas.microsoft.com/office/drawing/2014/main" id="{4B843E89-6146-45F4-8F6F-252C18438EA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6227DBC-8793-BAEC-D4CA-4DD2918B7927}"/>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2100082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1952BD-9E26-3943-F1E3-AA897EE0CA1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56653F-334D-DC6E-589D-A5A95F6324C2}"/>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4" name="頁尾版面配置區 3">
            <a:extLst>
              <a:ext uri="{FF2B5EF4-FFF2-40B4-BE49-F238E27FC236}">
                <a16:creationId xmlns:a16="http://schemas.microsoft.com/office/drawing/2014/main" id="{3519D14D-0429-4927-6AF8-3C05695F6B6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4BD67CC-1C3E-110A-1633-4CBF180254EE}"/>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1998485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F735BDC-A546-BF00-DF45-471E0DF44428}"/>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3" name="頁尾版面配置區 2">
            <a:extLst>
              <a:ext uri="{FF2B5EF4-FFF2-40B4-BE49-F238E27FC236}">
                <a16:creationId xmlns:a16="http://schemas.microsoft.com/office/drawing/2014/main" id="{FD0E0A82-6251-56F0-D503-22B44FDE835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81B15B2D-4334-AB6B-1038-B5519C0CEED0}"/>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2062752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1A4121-DCBC-2771-4208-33822043977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D5FF830-F236-0DB5-1C2D-9AFCEA718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3F07CA09-8DB4-3490-53E4-A48056176A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2585003-F174-1D1E-DE65-A061CA976288}"/>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6" name="頁尾版面配置區 5">
            <a:extLst>
              <a:ext uri="{FF2B5EF4-FFF2-40B4-BE49-F238E27FC236}">
                <a16:creationId xmlns:a16="http://schemas.microsoft.com/office/drawing/2014/main" id="{C7D09477-DBD5-0122-AF17-9D880DF9B1A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3F1F014-7FA1-CA4B-78C4-0E4D8BF694FA}"/>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2610066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4D8BF3-BAF7-014B-B0FB-E6FB16A1B47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E0D7AC4-E534-6AF0-7B3F-244DECA30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981257E1-E3CF-AFA7-655B-38E8C1842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BAA6608-259C-4E11-3185-70AC24934B19}"/>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6" name="頁尾版面配置區 5">
            <a:extLst>
              <a:ext uri="{FF2B5EF4-FFF2-40B4-BE49-F238E27FC236}">
                <a16:creationId xmlns:a16="http://schemas.microsoft.com/office/drawing/2014/main" id="{9FB2B190-99B2-0694-0F8D-18E935E0E1D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C564414-46C7-E1BB-1E14-69167598ED55}"/>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3231888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2B77B1-148A-C228-B1B8-45F787432031}"/>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148E419-E9C6-67D9-D889-A570A270702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5C775C8-7C72-0378-EF8E-47932AFD79C2}"/>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38DB8652-4614-549E-9E6F-A816121FB33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7D3338-2CDC-E840-DE2F-C9B24AA7ECDD}"/>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936189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FAFEA68-69B7-4DCD-B096-06BFF2A517C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9095C40-12A1-13CD-C933-9A9B3BC2353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6745072-DE66-76A7-5FD1-FFFE52BCD55F}"/>
              </a:ext>
            </a:extLst>
          </p:cNvPr>
          <p:cNvSpPr>
            <a:spLocks noGrp="1"/>
          </p:cNvSpPr>
          <p:nvPr>
            <p:ph type="dt" sz="half" idx="10"/>
          </p:nvPr>
        </p:nvSpPr>
        <p:spPr/>
        <p:txBody>
          <a:body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787C5F03-954C-1C49-9207-67FE9220C8F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373C69-807C-3F61-C064-399DD80810E7}"/>
              </a:ext>
            </a:extLst>
          </p:cNvPr>
          <p:cNvSpPr>
            <a:spLocks noGrp="1"/>
          </p:cNvSpPr>
          <p:nvPr>
            <p:ph type="sldNum" sz="quarter" idx="12"/>
          </p:nvPr>
        </p:nvSpPr>
        <p:spPr/>
        <p:txBody>
          <a:body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3784762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A30E8FE-EEDD-1D86-F60E-EC7D85F612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DB25F96-A20E-7C28-647E-9C9B4977FB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7CD74F-6185-8B4C-7FB9-8BCF496613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DC6E88-8268-41DF-AB70-3C6FB3488E03}" type="datetimeFigureOut">
              <a:rPr lang="zh-TW" altLang="en-US" smtClean="0"/>
              <a:t>2026/4/22</a:t>
            </a:fld>
            <a:endParaRPr lang="zh-TW" altLang="en-US"/>
          </a:p>
        </p:txBody>
      </p:sp>
      <p:sp>
        <p:nvSpPr>
          <p:cNvPr id="5" name="頁尾版面配置區 4">
            <a:extLst>
              <a:ext uri="{FF2B5EF4-FFF2-40B4-BE49-F238E27FC236}">
                <a16:creationId xmlns:a16="http://schemas.microsoft.com/office/drawing/2014/main" id="{99FD4E44-C0BB-80F9-1780-FCACD9513C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869D763-1E6F-6A2D-959E-DFDBFC6EE6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2D4D13-8184-4468-8C59-39760E10096D}" type="slidenum">
              <a:rPr lang="zh-TW" altLang="en-US" smtClean="0"/>
              <a:t>‹#›</a:t>
            </a:fld>
            <a:endParaRPr lang="zh-TW" altLang="en-US"/>
          </a:p>
        </p:txBody>
      </p:sp>
    </p:spTree>
    <p:extLst>
      <p:ext uri="{BB962C8B-B14F-4D97-AF65-F5344CB8AC3E}">
        <p14:creationId xmlns:p14="http://schemas.microsoft.com/office/powerpoint/2010/main" val="3999310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C0CFDF-FB6F-66BB-D5A3-D9BF8B7A24DB}"/>
              </a:ext>
            </a:extLst>
          </p:cNvPr>
          <p:cNvSpPr>
            <a:spLocks noGrp="1"/>
          </p:cNvSpPr>
          <p:nvPr>
            <p:ph type="ctrTitle"/>
          </p:nvPr>
        </p:nvSpPr>
        <p:spPr/>
        <p:txBody>
          <a:bodyPr/>
          <a:lstStyle/>
          <a:p>
            <a:r>
              <a:rPr lang="zh-TW" altLang="en-US" dirty="0"/>
              <a:t>軸向說明</a:t>
            </a:r>
          </a:p>
        </p:txBody>
      </p:sp>
      <p:sp>
        <p:nvSpPr>
          <p:cNvPr id="3" name="副標題 2">
            <a:extLst>
              <a:ext uri="{FF2B5EF4-FFF2-40B4-BE49-F238E27FC236}">
                <a16:creationId xmlns:a16="http://schemas.microsoft.com/office/drawing/2014/main" id="{6EA40FCE-ACCE-2373-6D4A-E1607D7A11BB}"/>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402649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64E9-6B63-E63D-A19E-E10A7F04C8CD}"/>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697B6ECB-CB8A-8D76-27BB-8C38B0FA6740}"/>
              </a:ext>
            </a:extLst>
          </p:cNvPr>
          <p:cNvGraphicFramePr>
            <a:graphicFrameLocks noGrp="1"/>
          </p:cNvGraphicFramePr>
          <p:nvPr>
            <p:extLst>
              <p:ext uri="{D42A27DB-BD31-4B8C-83A1-F6EECF244321}">
                <p14:modId xmlns:p14="http://schemas.microsoft.com/office/powerpoint/2010/main" val="1194225603"/>
              </p:ext>
            </p:extLst>
          </p:nvPr>
        </p:nvGraphicFramePr>
        <p:xfrm>
          <a:off x="1385957" y="530822"/>
          <a:ext cx="8128000" cy="3408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835014394"/>
                    </a:ext>
                  </a:extLst>
                </a:gridCol>
                <a:gridCol w="2032000">
                  <a:extLst>
                    <a:ext uri="{9D8B030D-6E8A-4147-A177-3AD203B41FA5}">
                      <a16:colId xmlns:a16="http://schemas.microsoft.com/office/drawing/2014/main" val="2041863558"/>
                    </a:ext>
                  </a:extLst>
                </a:gridCol>
                <a:gridCol w="2032000">
                  <a:extLst>
                    <a:ext uri="{9D8B030D-6E8A-4147-A177-3AD203B41FA5}">
                      <a16:colId xmlns:a16="http://schemas.microsoft.com/office/drawing/2014/main" val="2560988731"/>
                    </a:ext>
                  </a:extLst>
                </a:gridCol>
                <a:gridCol w="2032000">
                  <a:extLst>
                    <a:ext uri="{9D8B030D-6E8A-4147-A177-3AD203B41FA5}">
                      <a16:colId xmlns:a16="http://schemas.microsoft.com/office/drawing/2014/main" val="1114175466"/>
                    </a:ext>
                  </a:extLst>
                </a:gridCol>
              </a:tblGrid>
              <a:tr h="370840">
                <a:tc>
                  <a:txBody>
                    <a:bodyPr/>
                    <a:lstStyle/>
                    <a:p>
                      <a:r>
                        <a:rPr lang="en-US" altLang="zh-TW" sz="1400" dirty="0"/>
                        <a:t>PD</a:t>
                      </a:r>
                      <a:r>
                        <a:rPr lang="zh-TW" altLang="en-US" sz="1400" dirty="0"/>
                        <a:t> 版</a:t>
                      </a:r>
                      <a:r>
                        <a:rPr lang="en-US" altLang="zh-TW" sz="1400" dirty="0"/>
                        <a:t> PD </a:t>
                      </a:r>
                      <a:r>
                        <a:rPr lang="zh-TW" altLang="en-US" sz="1400" dirty="0"/>
                        <a:t>編號</a:t>
                      </a:r>
                      <a:endParaRPr lang="en-US" altLang="zh-TW" sz="1400" dirty="0"/>
                    </a:p>
                  </a:txBody>
                  <a:tcPr/>
                </a:tc>
                <a:tc>
                  <a:txBody>
                    <a:bodyPr/>
                    <a:lstStyle/>
                    <a:p>
                      <a:r>
                        <a:rPr lang="en-US" altLang="zh-TW" sz="1400" dirty="0"/>
                        <a:t>PD1</a:t>
                      </a:r>
                      <a:endParaRPr lang="zh-TW" altLang="en-US" sz="1400" dirty="0"/>
                    </a:p>
                  </a:txBody>
                  <a:tcPr/>
                </a:tc>
                <a:tc>
                  <a:txBody>
                    <a:bodyPr/>
                    <a:lstStyle/>
                    <a:p>
                      <a:r>
                        <a:rPr lang="en-US" altLang="zh-TW" sz="1400" dirty="0"/>
                        <a:t>PD2</a:t>
                      </a:r>
                      <a:endParaRPr lang="zh-TW" altLang="en-US" sz="1400" dirty="0"/>
                    </a:p>
                  </a:txBody>
                  <a:tcPr/>
                </a:tc>
                <a:tc>
                  <a:txBody>
                    <a:bodyPr/>
                    <a:lstStyle/>
                    <a:p>
                      <a:r>
                        <a:rPr lang="en-US" altLang="zh-TW" sz="1400" dirty="0"/>
                        <a:t>PD3</a:t>
                      </a:r>
                      <a:endParaRPr lang="zh-TW" altLang="en-US" sz="1400" dirty="0"/>
                    </a:p>
                  </a:txBody>
                  <a:tcPr/>
                </a:tc>
                <a:extLst>
                  <a:ext uri="{0D108BD9-81ED-4DB2-BD59-A6C34878D82A}">
                    <a16:rowId xmlns:a16="http://schemas.microsoft.com/office/drawing/2014/main" val="1088471859"/>
                  </a:ext>
                </a:extLst>
              </a:tr>
              <a:tr h="370840">
                <a:tc>
                  <a:txBody>
                    <a:bodyPr/>
                    <a:lstStyle/>
                    <a:p>
                      <a:r>
                        <a:rPr lang="en-US" altLang="zh-TW" sz="1400" dirty="0"/>
                        <a:t>FPGA </a:t>
                      </a:r>
                      <a:r>
                        <a:rPr lang="zh-TW" altLang="en-US" sz="1400" dirty="0"/>
                        <a:t>對應軸向</a:t>
                      </a:r>
                      <a:endParaRPr lang="en-US" altLang="zh-TW" sz="1400" dirty="0"/>
                    </a:p>
                  </a:txBody>
                  <a:tcPr/>
                </a:tc>
                <a:tc>
                  <a:txBody>
                    <a:bodyPr/>
                    <a:lstStyle/>
                    <a:p>
                      <a:r>
                        <a:rPr lang="en-US" altLang="zh-TW" sz="1400" dirty="0"/>
                        <a:t>X</a:t>
                      </a:r>
                      <a:endParaRPr lang="zh-TW" altLang="en-US" sz="1400" dirty="0"/>
                    </a:p>
                  </a:txBody>
                  <a:tcPr/>
                </a:tc>
                <a:tc>
                  <a:txBody>
                    <a:bodyPr/>
                    <a:lstStyle/>
                    <a:p>
                      <a:r>
                        <a:rPr lang="en-US" altLang="zh-TW" sz="1400" dirty="0"/>
                        <a:t>Z</a:t>
                      </a:r>
                      <a:endParaRPr lang="zh-TW" altLang="en-US" sz="1400" dirty="0"/>
                    </a:p>
                  </a:txBody>
                  <a:tcPr/>
                </a:tc>
                <a:tc>
                  <a:txBody>
                    <a:bodyPr/>
                    <a:lstStyle/>
                    <a:p>
                      <a:r>
                        <a:rPr lang="en-US" altLang="zh-TW" sz="1400" dirty="0"/>
                        <a:t>Y</a:t>
                      </a:r>
                      <a:endParaRPr lang="zh-TW" altLang="en-US" sz="1400" dirty="0"/>
                    </a:p>
                  </a:txBody>
                  <a:tcPr/>
                </a:tc>
                <a:extLst>
                  <a:ext uri="{0D108BD9-81ED-4DB2-BD59-A6C34878D82A}">
                    <a16:rowId xmlns:a16="http://schemas.microsoft.com/office/drawing/2014/main" val="2347053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t>FPGA</a:t>
                      </a:r>
                      <a:r>
                        <a:rPr lang="zh-TW" altLang="en-US" sz="1400" dirty="0"/>
                        <a:t> 參數容器對應 </a:t>
                      </a:r>
                      <a:r>
                        <a:rPr lang="en-US" altLang="zh-TW" sz="1400" dirty="0"/>
                        <a:t>cmd </a:t>
                      </a:r>
                      <a:r>
                        <a:rPr lang="zh-TW" altLang="en-US" sz="1400" dirty="0"/>
                        <a:t>通道</a:t>
                      </a:r>
                    </a:p>
                  </a:txBody>
                  <a:tcPr/>
                </a:tc>
                <a:tc>
                  <a:txBody>
                    <a:bodyPr/>
                    <a:lstStyle/>
                    <a:p>
                      <a:r>
                        <a:rPr lang="en-US" altLang="zh-TW" sz="1400" dirty="0"/>
                        <a:t>ch1</a:t>
                      </a:r>
                      <a:endParaRPr lang="zh-TW" altLang="en-US" sz="1400" dirty="0"/>
                    </a:p>
                  </a:txBody>
                  <a:tcPr/>
                </a:tc>
                <a:tc>
                  <a:txBody>
                    <a:bodyPr/>
                    <a:lstStyle/>
                    <a:p>
                      <a:r>
                        <a:rPr lang="en-US" altLang="zh-TW" sz="1400" dirty="0"/>
                        <a:t>ch3</a:t>
                      </a:r>
                      <a:endParaRPr lang="zh-TW" altLang="en-US" sz="1400" dirty="0"/>
                    </a:p>
                  </a:txBody>
                  <a:tcPr/>
                </a:tc>
                <a:tc>
                  <a:txBody>
                    <a:bodyPr/>
                    <a:lstStyle/>
                    <a:p>
                      <a:r>
                        <a:rPr lang="en-US" altLang="zh-TW" sz="1400" dirty="0"/>
                        <a:t>ch2</a:t>
                      </a:r>
                      <a:endParaRPr lang="zh-TW" altLang="en-US" sz="1400" dirty="0"/>
                    </a:p>
                  </a:txBody>
                  <a:tcPr/>
                </a:tc>
                <a:extLst>
                  <a:ext uri="{0D108BD9-81ED-4DB2-BD59-A6C34878D82A}">
                    <a16:rowId xmlns:a16="http://schemas.microsoft.com/office/drawing/2014/main" val="20098135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400" dirty="0"/>
                        <a:t>對應</a:t>
                      </a:r>
                      <a:r>
                        <a:rPr lang="en-US" altLang="zh-TW" sz="1400" dirty="0"/>
                        <a:t>ADC</a:t>
                      </a:r>
                      <a:endParaRPr lang="zh-TW" altLang="en-US" sz="1400" dirty="0"/>
                    </a:p>
                  </a:txBody>
                  <a:tcPr/>
                </a:tc>
                <a:tc>
                  <a:txBody>
                    <a:bodyPr/>
                    <a:lstStyle/>
                    <a:p>
                      <a:r>
                        <a:rPr lang="en-US" altLang="zh-TW" sz="1400" dirty="0"/>
                        <a:t>ADC_1_1</a:t>
                      </a:r>
                      <a:endParaRPr lang="zh-TW" altLang="en-US" sz="1400" dirty="0"/>
                    </a:p>
                  </a:txBody>
                  <a:tcPr/>
                </a:tc>
                <a:tc>
                  <a:txBody>
                    <a:bodyPr/>
                    <a:lstStyle/>
                    <a:p>
                      <a:r>
                        <a:rPr lang="en-US" altLang="zh-TW" sz="1400" dirty="0"/>
                        <a:t>ADC_2_2</a:t>
                      </a:r>
                      <a:endParaRPr lang="zh-TW" altLang="en-US" sz="1400" dirty="0"/>
                    </a:p>
                  </a:txBody>
                  <a:tcPr/>
                </a:tc>
                <a:tc>
                  <a:txBody>
                    <a:bodyPr/>
                    <a:lstStyle/>
                    <a:p>
                      <a:r>
                        <a:rPr lang="en-US" altLang="zh-TW" sz="1400" dirty="0"/>
                        <a:t>ADC_2_1</a:t>
                      </a:r>
                      <a:endParaRPr lang="zh-TW" altLang="en-US" sz="1400" dirty="0"/>
                    </a:p>
                  </a:txBody>
                  <a:tcPr/>
                </a:tc>
                <a:extLst>
                  <a:ext uri="{0D108BD9-81ED-4DB2-BD59-A6C34878D82A}">
                    <a16:rowId xmlns:a16="http://schemas.microsoft.com/office/drawing/2014/main" val="24350681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t>FPGA </a:t>
                      </a:r>
                      <a:r>
                        <a:rPr lang="zh-TW" altLang="en-US" sz="1400" dirty="0"/>
                        <a:t>變數</a:t>
                      </a:r>
                    </a:p>
                  </a:txBody>
                  <a:tcPr/>
                </a:tc>
                <a:tc>
                  <a:txBody>
                    <a:bodyPr/>
                    <a:lstStyle/>
                    <a:p>
                      <a:r>
                        <a:rPr lang="en-US" altLang="zh-TW" sz="1400" dirty="0"/>
                        <a:t>o_step_1</a:t>
                      </a:r>
                      <a:endParaRPr lang="zh-TW" altLang="en-US" sz="1400" dirty="0"/>
                    </a:p>
                  </a:txBody>
                  <a:tcPr/>
                </a:tc>
                <a:tc>
                  <a:txBody>
                    <a:bodyPr/>
                    <a:lstStyle/>
                    <a:p>
                      <a:r>
                        <a:rPr lang="en-US" altLang="zh-TW" sz="1400" dirty="0"/>
                        <a:t>o_step_3</a:t>
                      </a:r>
                      <a:endParaRPr lang="zh-TW" altLang="en-US" sz="1400" dirty="0"/>
                    </a:p>
                  </a:txBody>
                  <a:tcPr/>
                </a:tc>
                <a:tc>
                  <a:txBody>
                    <a:bodyPr/>
                    <a:lstStyle/>
                    <a:p>
                      <a:r>
                        <a:rPr lang="en-US" altLang="zh-TW" sz="1400" dirty="0"/>
                        <a:t>o_step_2</a:t>
                      </a:r>
                      <a:endParaRPr lang="zh-TW" altLang="en-US" sz="1400" dirty="0"/>
                    </a:p>
                  </a:txBody>
                  <a:tcPr/>
                </a:tc>
                <a:extLst>
                  <a:ext uri="{0D108BD9-81ED-4DB2-BD59-A6C34878D82A}">
                    <a16:rowId xmlns:a16="http://schemas.microsoft.com/office/drawing/2014/main" val="1311851592"/>
                  </a:ext>
                </a:extLst>
              </a:tr>
              <a:tr h="370840">
                <a:tc>
                  <a:txBody>
                    <a:bodyPr/>
                    <a:lstStyle/>
                    <a:p>
                      <a:r>
                        <a:rPr lang="en-US" altLang="zh-TW" sz="1400" dirty="0"/>
                        <a:t>Mis-alignment </a:t>
                      </a:r>
                      <a:r>
                        <a:rPr lang="zh-TW" altLang="en-US" sz="1400" dirty="0"/>
                        <a:t>參數對應通道</a:t>
                      </a:r>
                    </a:p>
                  </a:txBody>
                  <a:tcPr/>
                </a:tc>
                <a:tc gridSpan="3">
                  <a:txBody>
                    <a:bodyPr/>
                    <a:lstStyle/>
                    <a:p>
                      <a:pPr algn="ctr"/>
                      <a:r>
                        <a:rPr lang="en-US" altLang="zh-TW" sz="1400" dirty="0"/>
                        <a:t>ch4</a:t>
                      </a:r>
                      <a:endParaRPr lang="zh-TW" altLang="en-US" sz="1400" dirty="0"/>
                    </a:p>
                  </a:txBody>
                  <a:tcPr/>
                </a:tc>
                <a:tc hMerge="1">
                  <a:txBody>
                    <a:bodyPr/>
                    <a:lstStyle/>
                    <a:p>
                      <a:endParaRPr lang="zh-TW" altLang="en-US" sz="1400"/>
                    </a:p>
                  </a:txBody>
                  <a:tcPr/>
                </a:tc>
                <a:tc hMerge="1">
                  <a:txBody>
                    <a:bodyPr/>
                    <a:lstStyle/>
                    <a:p>
                      <a:endParaRPr lang="zh-TW" altLang="en-US" sz="1400" dirty="0"/>
                    </a:p>
                  </a:txBody>
                  <a:tcPr/>
                </a:tc>
                <a:extLst>
                  <a:ext uri="{0D108BD9-81ED-4DB2-BD59-A6C34878D82A}">
                    <a16:rowId xmlns:a16="http://schemas.microsoft.com/office/drawing/2014/main" val="1219640177"/>
                  </a:ext>
                </a:extLst>
              </a:tr>
              <a:tr h="370840">
                <a:tc>
                  <a:txBody>
                    <a:bodyPr/>
                    <a:lstStyle/>
                    <a:p>
                      <a:r>
                        <a:rPr lang="zh-TW" altLang="en-US" sz="1400" dirty="0"/>
                        <a:t>實際安裝軸向</a:t>
                      </a:r>
                    </a:p>
                  </a:txBody>
                  <a:tcPr/>
                </a:tc>
                <a:tc>
                  <a:txBody>
                    <a:bodyPr/>
                    <a:lstStyle/>
                    <a:p>
                      <a:r>
                        <a:rPr lang="en-US" altLang="zh-TW" sz="1400" dirty="0"/>
                        <a:t>Z</a:t>
                      </a:r>
                      <a:endParaRPr lang="zh-TW" altLang="en-US" sz="1400" dirty="0"/>
                    </a:p>
                  </a:txBody>
                  <a:tcPr/>
                </a:tc>
                <a:tc>
                  <a:txBody>
                    <a:bodyPr/>
                    <a:lstStyle/>
                    <a:p>
                      <a:r>
                        <a:rPr lang="en-US" altLang="zh-TW" sz="1400" dirty="0"/>
                        <a:t>X</a:t>
                      </a:r>
                      <a:endParaRPr lang="zh-TW" altLang="en-US" sz="1400" dirty="0"/>
                    </a:p>
                  </a:txBody>
                  <a:tcPr/>
                </a:tc>
                <a:tc>
                  <a:txBody>
                    <a:bodyPr/>
                    <a:lstStyle/>
                    <a:p>
                      <a:r>
                        <a:rPr lang="en-US" altLang="zh-TW" sz="1400" dirty="0"/>
                        <a:t>Y</a:t>
                      </a:r>
                      <a:endParaRPr lang="zh-TW" altLang="en-US" sz="1400" dirty="0"/>
                    </a:p>
                  </a:txBody>
                  <a:tcPr/>
                </a:tc>
                <a:extLst>
                  <a:ext uri="{0D108BD9-81ED-4DB2-BD59-A6C34878D82A}">
                    <a16:rowId xmlns:a16="http://schemas.microsoft.com/office/drawing/2014/main" val="3255864856"/>
                  </a:ext>
                </a:extLst>
              </a:tr>
              <a:tr h="370840">
                <a:tc>
                  <a:txBody>
                    <a:bodyPr/>
                    <a:lstStyle/>
                    <a:p>
                      <a:r>
                        <a:rPr lang="en-US" altLang="zh-TW" sz="1400" dirty="0"/>
                        <a:t>Dump fog </a:t>
                      </a:r>
                      <a:r>
                        <a:rPr lang="zh-TW" altLang="en-US" sz="1400" dirty="0"/>
                        <a:t>參數時送出通道</a:t>
                      </a:r>
                    </a:p>
                  </a:txBody>
                  <a:tcPr/>
                </a:tc>
                <a:tc>
                  <a:txBody>
                    <a:bodyPr/>
                    <a:lstStyle/>
                    <a:p>
                      <a:r>
                        <a:rPr lang="en-US" altLang="zh-TW" sz="1400" dirty="0"/>
                        <a:t>ch1</a:t>
                      </a:r>
                      <a:endParaRPr lang="zh-TW" altLang="en-US" sz="1400" dirty="0"/>
                    </a:p>
                  </a:txBody>
                  <a:tcPr/>
                </a:tc>
                <a:tc>
                  <a:txBody>
                    <a:bodyPr/>
                    <a:lstStyle/>
                    <a:p>
                      <a:r>
                        <a:rPr lang="en-US" altLang="zh-TW" sz="1400" dirty="0"/>
                        <a:t>ch3</a:t>
                      </a:r>
                      <a:endParaRPr lang="zh-TW" altLang="en-US" sz="1400" dirty="0"/>
                    </a:p>
                  </a:txBody>
                  <a:tcPr/>
                </a:tc>
                <a:tc>
                  <a:txBody>
                    <a:bodyPr/>
                    <a:lstStyle/>
                    <a:p>
                      <a:r>
                        <a:rPr lang="en-US" altLang="zh-TW" sz="1400" dirty="0"/>
                        <a:t>ch2</a:t>
                      </a:r>
                      <a:endParaRPr lang="zh-TW" altLang="en-US" sz="1400" dirty="0"/>
                    </a:p>
                  </a:txBody>
                  <a:tcPr/>
                </a:tc>
                <a:extLst>
                  <a:ext uri="{0D108BD9-81ED-4DB2-BD59-A6C34878D82A}">
                    <a16:rowId xmlns:a16="http://schemas.microsoft.com/office/drawing/2014/main" val="4057009047"/>
                  </a:ext>
                </a:extLst>
              </a:tr>
            </a:tbl>
          </a:graphicData>
        </a:graphic>
      </p:graphicFrame>
      <p:sp>
        <p:nvSpPr>
          <p:cNvPr id="5" name="文字方塊 4">
            <a:extLst>
              <a:ext uri="{FF2B5EF4-FFF2-40B4-BE49-F238E27FC236}">
                <a16:creationId xmlns:a16="http://schemas.microsoft.com/office/drawing/2014/main" id="{D2E4A8F3-674C-5690-5E8A-09047DB48E4A}"/>
              </a:ext>
            </a:extLst>
          </p:cNvPr>
          <p:cNvSpPr txBox="1"/>
          <p:nvPr/>
        </p:nvSpPr>
        <p:spPr>
          <a:xfrm>
            <a:off x="800810" y="4056180"/>
            <a:ext cx="11151704" cy="2585323"/>
          </a:xfrm>
          <a:prstGeom prst="rect">
            <a:avLst/>
          </a:prstGeom>
          <a:noFill/>
        </p:spPr>
        <p:txBody>
          <a:bodyPr wrap="square" rtlCol="0">
            <a:spAutoFit/>
          </a:bodyPr>
          <a:lstStyle/>
          <a:p>
            <a:r>
              <a:rPr lang="zh-TW" altLang="en-US" dirty="0"/>
              <a:t>若實際安裝軸向變更，</a:t>
            </a:r>
            <a:r>
              <a:rPr lang="en-US" altLang="zh-TW" dirty="0"/>
              <a:t>MCU</a:t>
            </a:r>
            <a:r>
              <a:rPr lang="zh-TW" altLang="en-US" dirty="0"/>
              <a:t>程式需變更以下部分</a:t>
            </a:r>
            <a:r>
              <a:rPr lang="en-US" altLang="zh-TW" dirty="0"/>
              <a:t>:</a:t>
            </a:r>
          </a:p>
          <a:p>
            <a:pPr marL="342900" indent="-342900">
              <a:buAutoNum type="arabicPeriod"/>
            </a:pPr>
            <a:r>
              <a:rPr lang="zh-TW" altLang="en-US" dirty="0"/>
              <a:t>根據實際安裝軸向查找對應的</a:t>
            </a:r>
            <a:r>
              <a:rPr lang="en-US" altLang="zh-TW" dirty="0"/>
              <a:t>”FPGA</a:t>
            </a:r>
            <a:r>
              <a:rPr lang="zh-TW" altLang="en-US" dirty="0"/>
              <a:t> 參數容器對應 </a:t>
            </a:r>
            <a:r>
              <a:rPr lang="en-US" altLang="zh-TW" dirty="0"/>
              <a:t>cmd </a:t>
            </a:r>
            <a:r>
              <a:rPr lang="zh-TW" altLang="en-US" dirty="0"/>
              <a:t>通道</a:t>
            </a:r>
            <a:r>
              <a:rPr lang="en-US" altLang="zh-TW" dirty="0"/>
              <a:t>”</a:t>
            </a:r>
            <a:r>
              <a:rPr lang="zh-TW" altLang="en-US" dirty="0"/>
              <a:t>，</a:t>
            </a:r>
            <a:r>
              <a:rPr lang="en-US" altLang="zh-TW" dirty="0"/>
              <a:t>GUI</a:t>
            </a:r>
            <a:r>
              <a:rPr lang="zh-TW" altLang="en-US" dirty="0"/>
              <a:t>送出對應軸向參數時依照此通道送出</a:t>
            </a:r>
            <a:r>
              <a:rPr lang="en-US" altLang="zh-TW" dirty="0"/>
              <a:t>ch</a:t>
            </a:r>
            <a:r>
              <a:rPr lang="zh-TW" altLang="en-US" dirty="0"/>
              <a:t>。</a:t>
            </a:r>
            <a:endParaRPr lang="en-US" altLang="zh-TW" dirty="0"/>
          </a:p>
          <a:p>
            <a:pPr marL="342900" indent="-342900">
              <a:buAutoNum type="arabicPeriod"/>
            </a:pPr>
            <a:r>
              <a:rPr lang="zh-TW" altLang="en-US" dirty="0"/>
              <a:t>修改</a:t>
            </a:r>
            <a:r>
              <a:rPr lang="en-US" altLang="zh-TW" dirty="0"/>
              <a:t>MCU</a:t>
            </a:r>
            <a:r>
              <a:rPr lang="zh-TW" altLang="en-US" dirty="0"/>
              <a:t> 處 </a:t>
            </a:r>
            <a:r>
              <a:rPr lang="en-US" altLang="zh-TW" dirty="0"/>
              <a:t>dump</a:t>
            </a:r>
            <a:r>
              <a:rPr lang="zh-TW" altLang="en-US" dirty="0"/>
              <a:t> </a:t>
            </a:r>
            <a:r>
              <a:rPr lang="en-US" altLang="zh-TW" dirty="0"/>
              <a:t>fog </a:t>
            </a:r>
            <a:r>
              <a:rPr lang="zh-TW" altLang="en-US" dirty="0"/>
              <a:t>參數時</a:t>
            </a:r>
            <a:r>
              <a:rPr lang="en-US" altLang="zh-TW" dirty="0"/>
              <a:t>call back</a:t>
            </a:r>
            <a:r>
              <a:rPr lang="zh-TW" altLang="en-US" dirty="0"/>
              <a:t>內容，將各軸向</a:t>
            </a:r>
            <a:r>
              <a:rPr lang="en-US" altLang="zh-TW" dirty="0"/>
              <a:t>FOG</a:t>
            </a:r>
            <a:r>
              <a:rPr lang="zh-TW" altLang="en-US" dirty="0"/>
              <a:t>參數容器指向對應的</a:t>
            </a:r>
            <a:r>
              <a:rPr lang="en-US" altLang="zh-TW" dirty="0"/>
              <a:t>ch case</a:t>
            </a:r>
            <a:r>
              <a:rPr lang="zh-TW" altLang="en-US" dirty="0"/>
              <a:t>，程式對應</a:t>
            </a:r>
            <a:r>
              <a:rPr lang="en-US" altLang="zh-TW" dirty="0"/>
              <a:t>common.cpp</a:t>
            </a:r>
            <a:r>
              <a:rPr lang="zh-TW" altLang="en-US" dirty="0"/>
              <a:t> 之 </a:t>
            </a:r>
            <a:r>
              <a:rPr lang="en-US" altLang="zh-TW" dirty="0" err="1"/>
              <a:t>fog_store_cb</a:t>
            </a:r>
            <a:r>
              <a:rPr lang="en-US" altLang="zh-TW" dirty="0"/>
              <a:t>()</a:t>
            </a:r>
          </a:p>
          <a:p>
            <a:pPr marL="342900" indent="-342900">
              <a:buAutoNum type="arabicPeriod"/>
            </a:pPr>
            <a:r>
              <a:rPr lang="zh-TW" altLang="en-US" dirty="0"/>
              <a:t>接收來自</a:t>
            </a:r>
            <a:r>
              <a:rPr lang="en-US" altLang="zh-TW" dirty="0"/>
              <a:t>FPGA</a:t>
            </a:r>
            <a:r>
              <a:rPr lang="zh-TW" altLang="en-US" dirty="0"/>
              <a:t>數據時須將</a:t>
            </a:r>
            <a:r>
              <a:rPr lang="en-US" altLang="zh-TW" dirty="0"/>
              <a:t>MCU</a:t>
            </a:r>
            <a:r>
              <a:rPr lang="zh-TW" altLang="en-US" dirty="0"/>
              <a:t>內</a:t>
            </a:r>
            <a:r>
              <a:rPr lang="en-US" altLang="zh-TW" dirty="0"/>
              <a:t>sensor</a:t>
            </a:r>
            <a:r>
              <a:rPr lang="zh-TW" altLang="en-US" dirty="0"/>
              <a:t>容器軸向指向對應的數據軸向，修改處為</a:t>
            </a:r>
            <a:r>
              <a:rPr lang="en-US" altLang="zh-TW" dirty="0"/>
              <a:t>common.cpp</a:t>
            </a:r>
            <a:r>
              <a:rPr lang="zh-TW" altLang="en-US" dirty="0"/>
              <a:t> 之 </a:t>
            </a:r>
            <a:r>
              <a:rPr lang="en-US" altLang="zh-TW" dirty="0" err="1"/>
              <a:t>update_raw_data</a:t>
            </a:r>
            <a:r>
              <a:rPr lang="en-US" altLang="zh-TW" dirty="0"/>
              <a:t>()</a:t>
            </a:r>
          </a:p>
          <a:p>
            <a:pPr marL="342900" indent="-342900">
              <a:buAutoNum type="arabicPeriod"/>
            </a:pPr>
            <a:endParaRPr lang="zh-TW" altLang="en-US" dirty="0"/>
          </a:p>
          <a:p>
            <a:endParaRPr lang="zh-TW" altLang="en-US" dirty="0"/>
          </a:p>
        </p:txBody>
      </p:sp>
    </p:spTree>
    <p:extLst>
      <p:ext uri="{BB962C8B-B14F-4D97-AF65-F5344CB8AC3E}">
        <p14:creationId xmlns:p14="http://schemas.microsoft.com/office/powerpoint/2010/main" val="37351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4D93D1A-6A3F-D419-9E28-5C817C96D816}"/>
              </a:ext>
            </a:extLst>
          </p:cNvPr>
          <p:cNvPicPr>
            <a:picLocks noChangeAspect="1"/>
          </p:cNvPicPr>
          <p:nvPr/>
        </p:nvPicPr>
        <p:blipFill>
          <a:blip r:embed="rId2"/>
          <a:stretch>
            <a:fillRect/>
          </a:stretch>
        </p:blipFill>
        <p:spPr>
          <a:xfrm>
            <a:off x="7546592" y="2150814"/>
            <a:ext cx="3313832" cy="4417446"/>
          </a:xfrm>
          <a:prstGeom prst="rect">
            <a:avLst/>
          </a:prstGeom>
        </p:spPr>
      </p:pic>
      <p:sp>
        <p:nvSpPr>
          <p:cNvPr id="5" name="文字方塊 4">
            <a:extLst>
              <a:ext uri="{FF2B5EF4-FFF2-40B4-BE49-F238E27FC236}">
                <a16:creationId xmlns:a16="http://schemas.microsoft.com/office/drawing/2014/main" id="{4D0DBC49-0902-BF01-0124-F6F81BD72880}"/>
              </a:ext>
            </a:extLst>
          </p:cNvPr>
          <p:cNvSpPr txBox="1"/>
          <p:nvPr/>
        </p:nvSpPr>
        <p:spPr>
          <a:xfrm>
            <a:off x="8568912" y="5917732"/>
            <a:ext cx="1923283" cy="369332"/>
          </a:xfrm>
          <a:prstGeom prst="rect">
            <a:avLst/>
          </a:prstGeom>
          <a:solidFill>
            <a:srgbClr val="FFFF00"/>
          </a:solidFill>
        </p:spPr>
        <p:txBody>
          <a:bodyPr wrap="none" rtlCol="0">
            <a:spAutoFit/>
          </a:bodyPr>
          <a:lstStyle/>
          <a:p>
            <a:r>
              <a:rPr lang="en-US" altLang="zh-TW" dirty="0"/>
              <a:t>Port1, PD1, z-axis</a:t>
            </a:r>
            <a:endParaRPr lang="zh-TW" altLang="en-US" dirty="0"/>
          </a:p>
        </p:txBody>
      </p:sp>
      <p:sp>
        <p:nvSpPr>
          <p:cNvPr id="6" name="文字方塊 5">
            <a:extLst>
              <a:ext uri="{FF2B5EF4-FFF2-40B4-BE49-F238E27FC236}">
                <a16:creationId xmlns:a16="http://schemas.microsoft.com/office/drawing/2014/main" id="{29369663-993C-4A46-13B8-45DF85CB67D0}"/>
              </a:ext>
            </a:extLst>
          </p:cNvPr>
          <p:cNvSpPr txBox="1"/>
          <p:nvPr/>
        </p:nvSpPr>
        <p:spPr>
          <a:xfrm>
            <a:off x="9898782" y="2234403"/>
            <a:ext cx="1920847" cy="369332"/>
          </a:xfrm>
          <a:prstGeom prst="rect">
            <a:avLst/>
          </a:prstGeom>
          <a:solidFill>
            <a:srgbClr val="FFFF00"/>
          </a:solidFill>
        </p:spPr>
        <p:txBody>
          <a:bodyPr wrap="none" rtlCol="0">
            <a:spAutoFit/>
          </a:bodyPr>
          <a:lstStyle/>
          <a:p>
            <a:r>
              <a:rPr lang="en-US" altLang="zh-TW" dirty="0"/>
              <a:t>Port2, PD2, x-axis</a:t>
            </a:r>
            <a:endParaRPr lang="zh-TW" altLang="en-US" dirty="0"/>
          </a:p>
        </p:txBody>
      </p:sp>
      <p:sp>
        <p:nvSpPr>
          <p:cNvPr id="7" name="文字方塊 6">
            <a:extLst>
              <a:ext uri="{FF2B5EF4-FFF2-40B4-BE49-F238E27FC236}">
                <a16:creationId xmlns:a16="http://schemas.microsoft.com/office/drawing/2014/main" id="{73BD027E-5F15-040D-003D-C8BACB9E79E2}"/>
              </a:ext>
            </a:extLst>
          </p:cNvPr>
          <p:cNvSpPr txBox="1"/>
          <p:nvPr/>
        </p:nvSpPr>
        <p:spPr>
          <a:xfrm>
            <a:off x="5633402" y="4034273"/>
            <a:ext cx="1926489" cy="369332"/>
          </a:xfrm>
          <a:prstGeom prst="rect">
            <a:avLst/>
          </a:prstGeom>
          <a:solidFill>
            <a:srgbClr val="FFFF00"/>
          </a:solidFill>
        </p:spPr>
        <p:txBody>
          <a:bodyPr wrap="none" rtlCol="0">
            <a:spAutoFit/>
          </a:bodyPr>
          <a:lstStyle/>
          <a:p>
            <a:r>
              <a:rPr lang="en-US" altLang="zh-TW" dirty="0"/>
              <a:t>Port3, PD3, y-axis</a:t>
            </a:r>
            <a:endParaRPr lang="zh-TW" altLang="en-US" dirty="0"/>
          </a:p>
        </p:txBody>
      </p:sp>
      <p:sp>
        <p:nvSpPr>
          <p:cNvPr id="9" name="文字方塊 8">
            <a:extLst>
              <a:ext uri="{FF2B5EF4-FFF2-40B4-BE49-F238E27FC236}">
                <a16:creationId xmlns:a16="http://schemas.microsoft.com/office/drawing/2014/main" id="{876612A8-AB2B-0445-6DBF-811A099BF102}"/>
              </a:ext>
            </a:extLst>
          </p:cNvPr>
          <p:cNvSpPr txBox="1"/>
          <p:nvPr/>
        </p:nvSpPr>
        <p:spPr>
          <a:xfrm>
            <a:off x="282040" y="252879"/>
            <a:ext cx="6097978" cy="923330"/>
          </a:xfrm>
          <a:prstGeom prst="rect">
            <a:avLst/>
          </a:prstGeom>
          <a:noFill/>
        </p:spPr>
        <p:txBody>
          <a:bodyPr wrap="square">
            <a:spAutoFit/>
          </a:bodyPr>
          <a:lstStyle/>
          <a:p>
            <a:pPr marL="742950" lvl="1" indent="-285750">
              <a:buFont typeface="Arial" panose="020B0604020202020204" pitchFamily="34" charset="0"/>
              <a:buChar char="•"/>
            </a:pPr>
            <a:r>
              <a:rPr lang="en-US" altLang="zh-TW" sz="1800" dirty="0">
                <a:solidFill>
                  <a:srgbClr val="FF0000"/>
                </a:solidFill>
                <a:latin typeface="微軟正黑體" panose="020B0604030504040204" pitchFamily="34" charset="-120"/>
                <a:ea typeface="微軟正黑體" panose="020B0604030504040204" pitchFamily="34" charset="-120"/>
              </a:rPr>
              <a:t>PD1</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DAC1</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zh-TW" altLang="en-US" sz="1800" dirty="0">
                <a:solidFill>
                  <a:srgbClr val="FF0000"/>
                </a:solidFill>
                <a:latin typeface="微軟正黑體" panose="020B0604030504040204" pitchFamily="34" charset="-120"/>
                <a:ea typeface="微軟正黑體" panose="020B0604030504040204" pitchFamily="34" charset="-120"/>
              </a:rPr>
              <a:t>實際</a:t>
            </a:r>
            <a:r>
              <a:rPr lang="en-US" altLang="zh-TW" sz="1800" dirty="0">
                <a:solidFill>
                  <a:srgbClr val="FF0000"/>
                </a:solidFill>
                <a:latin typeface="微軟正黑體" panose="020B0604030504040204" pitchFamily="34" charset="-120"/>
                <a:ea typeface="微軟正黑體" panose="020B0604030504040204" pitchFamily="34" charset="-120"/>
              </a:rPr>
              <a:t>z</a:t>
            </a:r>
            <a:r>
              <a:rPr lang="zh-TW" altLang="en-US" sz="1800" dirty="0">
                <a:solidFill>
                  <a:srgbClr val="FF0000"/>
                </a:solidFill>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(GUI</a:t>
            </a:r>
            <a:r>
              <a:rPr lang="zh-TW" altLang="en-US" sz="1800" dirty="0">
                <a:latin typeface="微軟正黑體" panose="020B0604030504040204" pitchFamily="34" charset="-120"/>
                <a:ea typeface="微軟正黑體" panose="020B0604030504040204" pitchFamily="34" charset="-120"/>
              </a:rPr>
              <a:t>目前為</a:t>
            </a:r>
            <a:r>
              <a:rPr lang="en-US" altLang="zh-TW" sz="1800" dirty="0">
                <a:latin typeface="微軟正黑體" panose="020B0604030504040204" pitchFamily="34" charset="-120"/>
                <a:ea typeface="微軟正黑體" panose="020B0604030504040204" pitchFamily="34" charset="-120"/>
              </a:rPr>
              <a:t>x</a:t>
            </a:r>
            <a:r>
              <a:rPr lang="zh-TW" altLang="en-US" sz="1800" dirty="0">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a:t>
            </a:r>
          </a:p>
          <a:p>
            <a:pPr marL="742950" lvl="1" indent="-285750">
              <a:buFont typeface="Arial" panose="020B0604020202020204" pitchFamily="34" charset="0"/>
              <a:buChar char="•"/>
            </a:pPr>
            <a:r>
              <a:rPr lang="en-US" altLang="zh-TW" sz="1800" dirty="0">
                <a:solidFill>
                  <a:srgbClr val="FF0000"/>
                </a:solidFill>
                <a:latin typeface="微軟正黑體" panose="020B0604030504040204" pitchFamily="34" charset="-120"/>
                <a:ea typeface="微軟正黑體" panose="020B0604030504040204" pitchFamily="34" charset="-120"/>
              </a:rPr>
              <a:t>PD2</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DAC3</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zh-TW" altLang="en-US" sz="1800" dirty="0">
                <a:solidFill>
                  <a:srgbClr val="FF0000"/>
                </a:solidFill>
                <a:latin typeface="微軟正黑體" panose="020B0604030504040204" pitchFamily="34" charset="-120"/>
                <a:ea typeface="微軟正黑體" panose="020B0604030504040204" pitchFamily="34" charset="-120"/>
              </a:rPr>
              <a:t>實際</a:t>
            </a:r>
            <a:r>
              <a:rPr lang="en-US" altLang="zh-TW" sz="1800" dirty="0">
                <a:solidFill>
                  <a:srgbClr val="FF0000"/>
                </a:solidFill>
                <a:latin typeface="微軟正黑體" panose="020B0604030504040204" pitchFamily="34" charset="-120"/>
                <a:ea typeface="微軟正黑體" panose="020B0604030504040204" pitchFamily="34" charset="-120"/>
              </a:rPr>
              <a:t>x</a:t>
            </a:r>
            <a:r>
              <a:rPr lang="zh-TW" altLang="en-US" sz="1800" dirty="0">
                <a:solidFill>
                  <a:srgbClr val="FF0000"/>
                </a:solidFill>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(GUI</a:t>
            </a:r>
            <a:r>
              <a:rPr lang="zh-TW" altLang="en-US" sz="1800" dirty="0">
                <a:latin typeface="微軟正黑體" panose="020B0604030504040204" pitchFamily="34" charset="-120"/>
                <a:ea typeface="微軟正黑體" panose="020B0604030504040204" pitchFamily="34" charset="-120"/>
              </a:rPr>
              <a:t>目前為</a:t>
            </a:r>
            <a:r>
              <a:rPr lang="en-US" altLang="zh-TW" sz="1800" dirty="0">
                <a:latin typeface="微軟正黑體" panose="020B0604030504040204" pitchFamily="34" charset="-120"/>
                <a:ea typeface="微軟正黑體" panose="020B0604030504040204" pitchFamily="34" charset="-120"/>
              </a:rPr>
              <a:t>z</a:t>
            </a:r>
            <a:r>
              <a:rPr lang="zh-TW" altLang="en-US" sz="1800" dirty="0">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a:t>
            </a:r>
          </a:p>
          <a:p>
            <a:pPr marL="742950" lvl="1" indent="-285750">
              <a:buFont typeface="Arial" panose="020B0604020202020204" pitchFamily="34" charset="0"/>
              <a:buChar char="•"/>
            </a:pPr>
            <a:r>
              <a:rPr lang="en-US" altLang="zh-TW" sz="1800" dirty="0">
                <a:solidFill>
                  <a:srgbClr val="FF0000"/>
                </a:solidFill>
                <a:latin typeface="微軟正黑體" panose="020B0604030504040204" pitchFamily="34" charset="-120"/>
                <a:ea typeface="微軟正黑體" panose="020B0604030504040204" pitchFamily="34" charset="-120"/>
              </a:rPr>
              <a:t>PD3</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DAC2</a:t>
            </a:r>
            <a:r>
              <a:rPr lang="zh-TW" altLang="en-US" sz="18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 </a:t>
            </a:r>
            <a:r>
              <a:rPr lang="zh-TW" altLang="en-US" sz="1800" dirty="0">
                <a:solidFill>
                  <a:srgbClr val="FF0000"/>
                </a:solidFill>
                <a:latin typeface="微軟正黑體" panose="020B0604030504040204" pitchFamily="34" charset="-120"/>
                <a:ea typeface="微軟正黑體" panose="020B0604030504040204" pitchFamily="34" charset="-120"/>
              </a:rPr>
              <a:t>實際</a:t>
            </a:r>
            <a:r>
              <a:rPr lang="en-US" altLang="zh-TW" sz="1800" dirty="0">
                <a:solidFill>
                  <a:srgbClr val="FF0000"/>
                </a:solidFill>
                <a:latin typeface="微軟正黑體" panose="020B0604030504040204" pitchFamily="34" charset="-120"/>
                <a:ea typeface="微軟正黑體" panose="020B0604030504040204" pitchFamily="34" charset="-120"/>
              </a:rPr>
              <a:t>y</a:t>
            </a:r>
            <a:r>
              <a:rPr lang="zh-TW" altLang="en-US" sz="1800" dirty="0">
                <a:solidFill>
                  <a:srgbClr val="FF0000"/>
                </a:solidFill>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(GUI</a:t>
            </a:r>
            <a:r>
              <a:rPr lang="zh-TW" altLang="en-US" sz="1800" dirty="0">
                <a:latin typeface="微軟正黑體" panose="020B0604030504040204" pitchFamily="34" charset="-120"/>
                <a:ea typeface="微軟正黑體" panose="020B0604030504040204" pitchFamily="34" charset="-120"/>
              </a:rPr>
              <a:t>目前為</a:t>
            </a:r>
            <a:r>
              <a:rPr lang="en-US" altLang="zh-TW" sz="1800" dirty="0">
                <a:latin typeface="微軟正黑體" panose="020B0604030504040204" pitchFamily="34" charset="-120"/>
                <a:ea typeface="微軟正黑體" panose="020B0604030504040204" pitchFamily="34" charset="-120"/>
              </a:rPr>
              <a:t>y</a:t>
            </a:r>
            <a:r>
              <a:rPr lang="zh-TW" altLang="en-US" sz="1800" dirty="0">
                <a:latin typeface="微軟正黑體" panose="020B0604030504040204" pitchFamily="34" charset="-120"/>
                <a:ea typeface="微軟正黑體" panose="020B0604030504040204" pitchFamily="34" charset="-120"/>
              </a:rPr>
              <a:t>軸</a:t>
            </a:r>
            <a:r>
              <a:rPr lang="en-US" altLang="zh-TW" sz="1800" dirty="0">
                <a:latin typeface="微軟正黑體" panose="020B0604030504040204" pitchFamily="34" charset="-120"/>
                <a:ea typeface="微軟正黑體" panose="020B0604030504040204" pitchFamily="34" charset="-120"/>
              </a:rPr>
              <a:t>)</a:t>
            </a:r>
          </a:p>
        </p:txBody>
      </p:sp>
      <p:cxnSp>
        <p:nvCxnSpPr>
          <p:cNvPr id="11" name="直線單箭頭接點 10">
            <a:extLst>
              <a:ext uri="{FF2B5EF4-FFF2-40B4-BE49-F238E27FC236}">
                <a16:creationId xmlns:a16="http://schemas.microsoft.com/office/drawing/2014/main" id="{58C344D3-15E6-BC24-A6C2-0FB171BA5B70}"/>
              </a:ext>
            </a:extLst>
          </p:cNvPr>
          <p:cNvCxnSpPr>
            <a:cxnSpLocks/>
          </p:cNvCxnSpPr>
          <p:nvPr/>
        </p:nvCxnSpPr>
        <p:spPr>
          <a:xfrm>
            <a:off x="10332963" y="613127"/>
            <a:ext cx="11994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線單箭頭接點 11">
            <a:extLst>
              <a:ext uri="{FF2B5EF4-FFF2-40B4-BE49-F238E27FC236}">
                <a16:creationId xmlns:a16="http://schemas.microsoft.com/office/drawing/2014/main" id="{BADE9529-0980-FBA7-2F07-9A54DA70CA8C}"/>
              </a:ext>
            </a:extLst>
          </p:cNvPr>
          <p:cNvCxnSpPr>
            <a:cxnSpLocks/>
          </p:cNvCxnSpPr>
          <p:nvPr/>
        </p:nvCxnSpPr>
        <p:spPr>
          <a:xfrm>
            <a:off x="10332963" y="613127"/>
            <a:ext cx="0" cy="9746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橢圓 14">
            <a:extLst>
              <a:ext uri="{FF2B5EF4-FFF2-40B4-BE49-F238E27FC236}">
                <a16:creationId xmlns:a16="http://schemas.microsoft.com/office/drawing/2014/main" id="{FA1924A5-9390-A6DC-4D8B-6426255B0A54}"/>
              </a:ext>
            </a:extLst>
          </p:cNvPr>
          <p:cNvSpPr/>
          <p:nvPr/>
        </p:nvSpPr>
        <p:spPr>
          <a:xfrm>
            <a:off x="10237960" y="506248"/>
            <a:ext cx="213755" cy="2137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0743F2AC-E894-89A9-9915-15058E568FE2}"/>
              </a:ext>
            </a:extLst>
          </p:cNvPr>
          <p:cNvSpPr txBox="1"/>
          <p:nvPr/>
        </p:nvSpPr>
        <p:spPr>
          <a:xfrm>
            <a:off x="10190135" y="83477"/>
            <a:ext cx="285656" cy="369332"/>
          </a:xfrm>
          <a:prstGeom prst="rect">
            <a:avLst/>
          </a:prstGeom>
          <a:noFill/>
        </p:spPr>
        <p:txBody>
          <a:bodyPr wrap="none" rtlCol="0">
            <a:spAutoFit/>
          </a:bodyPr>
          <a:lstStyle/>
          <a:p>
            <a:r>
              <a:rPr lang="en-US" altLang="zh-TW" dirty="0"/>
              <a:t>z</a:t>
            </a:r>
            <a:endParaRPr lang="zh-TW" altLang="en-US" dirty="0"/>
          </a:p>
        </p:txBody>
      </p:sp>
      <p:sp>
        <p:nvSpPr>
          <p:cNvPr id="17" name="文字方塊 16">
            <a:extLst>
              <a:ext uri="{FF2B5EF4-FFF2-40B4-BE49-F238E27FC236}">
                <a16:creationId xmlns:a16="http://schemas.microsoft.com/office/drawing/2014/main" id="{B9D83B0C-61A7-2F06-5BDB-515E8E318728}"/>
              </a:ext>
            </a:extLst>
          </p:cNvPr>
          <p:cNvSpPr txBox="1"/>
          <p:nvPr/>
        </p:nvSpPr>
        <p:spPr>
          <a:xfrm>
            <a:off x="10190135" y="1587733"/>
            <a:ext cx="287258" cy="369332"/>
          </a:xfrm>
          <a:prstGeom prst="rect">
            <a:avLst/>
          </a:prstGeom>
          <a:noFill/>
        </p:spPr>
        <p:txBody>
          <a:bodyPr wrap="none" rtlCol="0">
            <a:spAutoFit/>
          </a:bodyPr>
          <a:lstStyle/>
          <a:p>
            <a:r>
              <a:rPr lang="en-US" altLang="zh-TW" dirty="0"/>
              <a:t>x</a:t>
            </a:r>
            <a:endParaRPr lang="zh-TW" altLang="en-US" dirty="0"/>
          </a:p>
        </p:txBody>
      </p:sp>
      <p:sp>
        <p:nvSpPr>
          <p:cNvPr id="18" name="文字方塊 17">
            <a:extLst>
              <a:ext uri="{FF2B5EF4-FFF2-40B4-BE49-F238E27FC236}">
                <a16:creationId xmlns:a16="http://schemas.microsoft.com/office/drawing/2014/main" id="{8038A090-E923-20AE-0EDE-52790F551B1E}"/>
              </a:ext>
            </a:extLst>
          </p:cNvPr>
          <p:cNvSpPr txBox="1"/>
          <p:nvPr/>
        </p:nvSpPr>
        <p:spPr>
          <a:xfrm>
            <a:off x="11532371" y="428459"/>
            <a:ext cx="287258" cy="369332"/>
          </a:xfrm>
          <a:prstGeom prst="rect">
            <a:avLst/>
          </a:prstGeom>
          <a:noFill/>
        </p:spPr>
        <p:txBody>
          <a:bodyPr wrap="none" rtlCol="0">
            <a:spAutoFit/>
          </a:bodyPr>
          <a:lstStyle/>
          <a:p>
            <a:r>
              <a:rPr lang="en-US" altLang="zh-TW" dirty="0"/>
              <a:t>y</a:t>
            </a:r>
            <a:endParaRPr lang="zh-TW" altLang="en-US" dirty="0"/>
          </a:p>
        </p:txBody>
      </p:sp>
      <p:pic>
        <p:nvPicPr>
          <p:cNvPr id="2" name="圖片 1">
            <a:extLst>
              <a:ext uri="{FF2B5EF4-FFF2-40B4-BE49-F238E27FC236}">
                <a16:creationId xmlns:a16="http://schemas.microsoft.com/office/drawing/2014/main" id="{91163506-5D90-D1A4-3802-24BF1F7D924C}"/>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rot="16200000">
            <a:off x="1733137" y="2926836"/>
            <a:ext cx="3644954" cy="3711615"/>
          </a:xfrm>
          <a:prstGeom prst="rect">
            <a:avLst/>
          </a:prstGeom>
        </p:spPr>
      </p:pic>
      <p:graphicFrame>
        <p:nvGraphicFramePr>
          <p:cNvPr id="3" name="表格 2">
            <a:extLst>
              <a:ext uri="{FF2B5EF4-FFF2-40B4-BE49-F238E27FC236}">
                <a16:creationId xmlns:a16="http://schemas.microsoft.com/office/drawing/2014/main" id="{48268CF1-FE12-0520-B1B9-566828A52F01}"/>
              </a:ext>
            </a:extLst>
          </p:cNvPr>
          <p:cNvGraphicFramePr>
            <a:graphicFrameLocks noGrp="1"/>
          </p:cNvGraphicFramePr>
          <p:nvPr/>
        </p:nvGraphicFramePr>
        <p:xfrm>
          <a:off x="1576402" y="1638200"/>
          <a:ext cx="1773873" cy="111252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1246601127"/>
                    </a:ext>
                  </a:extLst>
                </a:gridCol>
                <a:gridCol w="1133793">
                  <a:extLst>
                    <a:ext uri="{9D8B030D-6E8A-4147-A177-3AD203B41FA5}">
                      <a16:colId xmlns:a16="http://schemas.microsoft.com/office/drawing/2014/main" val="3698375014"/>
                    </a:ext>
                  </a:extLst>
                </a:gridCol>
              </a:tblGrid>
              <a:tr h="370840">
                <a:tc>
                  <a:txBody>
                    <a:bodyPr/>
                    <a:lstStyle/>
                    <a:p>
                      <a:r>
                        <a:rPr lang="en-US" altLang="zh-TW" dirty="0"/>
                        <a:t>PD1</a:t>
                      </a:r>
                      <a:endParaRPr lang="zh-TW" altLang="en-US" dirty="0"/>
                    </a:p>
                  </a:txBody>
                  <a:tcPr/>
                </a:tc>
                <a:tc>
                  <a:txBody>
                    <a:bodyPr/>
                    <a:lstStyle/>
                    <a:p>
                      <a:r>
                        <a:rPr lang="en-US" altLang="zh-TW" dirty="0"/>
                        <a:t>ADC_1_1</a:t>
                      </a:r>
                      <a:endParaRPr lang="zh-TW" altLang="en-US" dirty="0"/>
                    </a:p>
                  </a:txBody>
                  <a:tcPr/>
                </a:tc>
                <a:extLst>
                  <a:ext uri="{0D108BD9-81ED-4DB2-BD59-A6C34878D82A}">
                    <a16:rowId xmlns:a16="http://schemas.microsoft.com/office/drawing/2014/main" val="2850536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PD2</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ADC_2_2</a:t>
                      </a:r>
                      <a:endParaRPr lang="zh-TW" altLang="en-US" dirty="0"/>
                    </a:p>
                  </a:txBody>
                  <a:tcPr/>
                </a:tc>
                <a:extLst>
                  <a:ext uri="{0D108BD9-81ED-4DB2-BD59-A6C34878D82A}">
                    <a16:rowId xmlns:a16="http://schemas.microsoft.com/office/drawing/2014/main" val="2261151463"/>
                  </a:ext>
                </a:extLst>
              </a:tr>
              <a:tr h="370840">
                <a:tc>
                  <a:txBody>
                    <a:bodyPr/>
                    <a:lstStyle/>
                    <a:p>
                      <a:r>
                        <a:rPr lang="en-US" altLang="zh-TW" dirty="0"/>
                        <a:t>PD3</a:t>
                      </a:r>
                      <a:endParaRPr lang="zh-TW" altLang="en-US" dirty="0"/>
                    </a:p>
                  </a:txBody>
                  <a:tcPr/>
                </a:tc>
                <a:tc>
                  <a:txBody>
                    <a:bodyPr/>
                    <a:lstStyle/>
                    <a:p>
                      <a:r>
                        <a:rPr lang="en-US" altLang="zh-TW" dirty="0"/>
                        <a:t>ADC_2_1</a:t>
                      </a:r>
                      <a:endParaRPr lang="zh-TW" altLang="en-US" dirty="0"/>
                    </a:p>
                  </a:txBody>
                  <a:tcPr/>
                </a:tc>
                <a:extLst>
                  <a:ext uri="{0D108BD9-81ED-4DB2-BD59-A6C34878D82A}">
                    <a16:rowId xmlns:a16="http://schemas.microsoft.com/office/drawing/2014/main" val="4158035046"/>
                  </a:ext>
                </a:extLst>
              </a:tr>
            </a:tbl>
          </a:graphicData>
        </a:graphic>
      </p:graphicFrame>
      <p:graphicFrame>
        <p:nvGraphicFramePr>
          <p:cNvPr id="8" name="表格 7">
            <a:extLst>
              <a:ext uri="{FF2B5EF4-FFF2-40B4-BE49-F238E27FC236}">
                <a16:creationId xmlns:a16="http://schemas.microsoft.com/office/drawing/2014/main" id="{28B33BE9-B350-0FE8-D45B-8469FC0317A9}"/>
              </a:ext>
            </a:extLst>
          </p:cNvPr>
          <p:cNvGraphicFramePr>
            <a:graphicFrameLocks noGrp="1"/>
          </p:cNvGraphicFramePr>
          <p:nvPr/>
        </p:nvGraphicFramePr>
        <p:xfrm>
          <a:off x="3602742" y="1616410"/>
          <a:ext cx="1917510" cy="1156100"/>
        </p:xfrm>
        <a:graphic>
          <a:graphicData uri="http://schemas.openxmlformats.org/drawingml/2006/table">
            <a:tbl>
              <a:tblPr firstRow="1" bandRow="1">
                <a:tableStyleId>{5940675A-B579-460E-94D1-54222C63F5DA}</a:tableStyleId>
              </a:tblPr>
              <a:tblGrid>
                <a:gridCol w="792861">
                  <a:extLst>
                    <a:ext uri="{9D8B030D-6E8A-4147-A177-3AD203B41FA5}">
                      <a16:colId xmlns:a16="http://schemas.microsoft.com/office/drawing/2014/main" val="1246601127"/>
                    </a:ext>
                  </a:extLst>
                </a:gridCol>
                <a:gridCol w="1124649">
                  <a:extLst>
                    <a:ext uri="{9D8B030D-6E8A-4147-A177-3AD203B41FA5}">
                      <a16:colId xmlns:a16="http://schemas.microsoft.com/office/drawing/2014/main" val="3698375014"/>
                    </a:ext>
                  </a:extLst>
                </a:gridCol>
              </a:tblGrid>
              <a:tr h="370840">
                <a:tc>
                  <a:txBody>
                    <a:bodyPr/>
                    <a:lstStyle/>
                    <a:p>
                      <a:r>
                        <a:rPr lang="en-US" altLang="zh-TW" dirty="0"/>
                        <a:t>DAC1</a:t>
                      </a:r>
                      <a:endParaRPr lang="zh-TW" altLang="en-US" dirty="0"/>
                    </a:p>
                  </a:txBody>
                  <a:tcPr/>
                </a:tc>
                <a:tc>
                  <a:txBody>
                    <a:bodyPr/>
                    <a:lstStyle/>
                    <a:p>
                      <a:r>
                        <a:rPr lang="en-US" altLang="zh-TW" dirty="0"/>
                        <a:t>DAC_1_1</a:t>
                      </a:r>
                      <a:endParaRPr lang="zh-TW" altLang="en-US" dirty="0"/>
                    </a:p>
                  </a:txBody>
                  <a:tcPr/>
                </a:tc>
                <a:extLst>
                  <a:ext uri="{0D108BD9-81ED-4DB2-BD59-A6C34878D82A}">
                    <a16:rowId xmlns:a16="http://schemas.microsoft.com/office/drawing/2014/main" val="285053684"/>
                  </a:ext>
                </a:extLst>
              </a:tr>
              <a:tr h="414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DAC3</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DAC_2_2</a:t>
                      </a:r>
                      <a:endParaRPr lang="zh-TW" altLang="en-US" dirty="0"/>
                    </a:p>
                  </a:txBody>
                  <a:tcPr/>
                </a:tc>
                <a:extLst>
                  <a:ext uri="{0D108BD9-81ED-4DB2-BD59-A6C34878D82A}">
                    <a16:rowId xmlns:a16="http://schemas.microsoft.com/office/drawing/2014/main" val="2261151463"/>
                  </a:ext>
                </a:extLst>
              </a:tr>
              <a:tr h="370840">
                <a:tc>
                  <a:txBody>
                    <a:bodyPr/>
                    <a:lstStyle/>
                    <a:p>
                      <a:r>
                        <a:rPr lang="en-US" altLang="zh-TW" dirty="0"/>
                        <a:t>DAC2</a:t>
                      </a:r>
                      <a:endParaRPr lang="zh-TW" altLang="en-US" dirty="0"/>
                    </a:p>
                  </a:txBody>
                  <a:tcPr/>
                </a:tc>
                <a:tc>
                  <a:txBody>
                    <a:bodyPr/>
                    <a:lstStyle/>
                    <a:p>
                      <a:r>
                        <a:rPr lang="en-US" altLang="zh-TW" dirty="0"/>
                        <a:t>DAC_2_1</a:t>
                      </a:r>
                      <a:endParaRPr lang="zh-TW" altLang="en-US" dirty="0"/>
                    </a:p>
                  </a:txBody>
                  <a:tcPr/>
                </a:tc>
                <a:extLst>
                  <a:ext uri="{0D108BD9-81ED-4DB2-BD59-A6C34878D82A}">
                    <a16:rowId xmlns:a16="http://schemas.microsoft.com/office/drawing/2014/main" val="4158035046"/>
                  </a:ext>
                </a:extLst>
              </a:tr>
            </a:tbl>
          </a:graphicData>
        </a:graphic>
      </p:graphicFrame>
      <p:sp>
        <p:nvSpPr>
          <p:cNvPr id="10" name="文字方塊 9">
            <a:extLst>
              <a:ext uri="{FF2B5EF4-FFF2-40B4-BE49-F238E27FC236}">
                <a16:creationId xmlns:a16="http://schemas.microsoft.com/office/drawing/2014/main" id="{73DABA2E-C440-2B90-279A-FB85B178020D}"/>
              </a:ext>
            </a:extLst>
          </p:cNvPr>
          <p:cNvSpPr txBox="1"/>
          <p:nvPr/>
        </p:nvSpPr>
        <p:spPr>
          <a:xfrm>
            <a:off x="1431973" y="1268868"/>
            <a:ext cx="1638300" cy="369332"/>
          </a:xfrm>
          <a:prstGeom prst="rect">
            <a:avLst/>
          </a:prstGeom>
          <a:noFill/>
        </p:spPr>
        <p:txBody>
          <a:bodyPr wrap="square" rtlCol="0">
            <a:spAutoFit/>
          </a:bodyPr>
          <a:lstStyle/>
          <a:p>
            <a:r>
              <a:rPr lang="zh-TW" altLang="en-US" dirty="0"/>
              <a:t>電路安排</a:t>
            </a:r>
          </a:p>
        </p:txBody>
      </p:sp>
    </p:spTree>
    <p:extLst>
      <p:ext uri="{BB962C8B-B14F-4D97-AF65-F5344CB8AC3E}">
        <p14:creationId xmlns:p14="http://schemas.microsoft.com/office/powerpoint/2010/main" val="418793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F39E6A1A-25A9-928B-7A76-C70B0AF3488B}"/>
              </a:ext>
            </a:extLst>
          </p:cNvPr>
          <p:cNvPicPr>
            <a:picLocks noGrp="1" noChangeAspect="1"/>
          </p:cNvPicPr>
          <p:nvPr>
            <p:ph idx="1"/>
          </p:nvPr>
        </p:nvPicPr>
        <p:blipFill>
          <a:blip r:embed="rId2"/>
          <a:stretch>
            <a:fillRect/>
          </a:stretch>
        </p:blipFill>
        <p:spPr>
          <a:xfrm>
            <a:off x="3912111" y="1825625"/>
            <a:ext cx="4367778" cy="4351338"/>
          </a:xfrm>
          <a:prstGeom prst="rect">
            <a:avLst/>
          </a:prstGeom>
        </p:spPr>
      </p:pic>
      <p:sp>
        <p:nvSpPr>
          <p:cNvPr id="6" name="文字方塊 5">
            <a:extLst>
              <a:ext uri="{FF2B5EF4-FFF2-40B4-BE49-F238E27FC236}">
                <a16:creationId xmlns:a16="http://schemas.microsoft.com/office/drawing/2014/main" id="{24A53D33-6872-0553-6F99-96632EA0BE71}"/>
              </a:ext>
            </a:extLst>
          </p:cNvPr>
          <p:cNvSpPr txBox="1"/>
          <p:nvPr/>
        </p:nvSpPr>
        <p:spPr>
          <a:xfrm>
            <a:off x="9815804" y="3788229"/>
            <a:ext cx="312906" cy="369332"/>
          </a:xfrm>
          <a:prstGeom prst="rect">
            <a:avLst/>
          </a:prstGeom>
          <a:noFill/>
        </p:spPr>
        <p:txBody>
          <a:bodyPr wrap="none" rtlCol="0">
            <a:spAutoFit/>
          </a:bodyPr>
          <a:lstStyle/>
          <a:p>
            <a:r>
              <a:rPr lang="en-US" altLang="zh-TW" dirty="0"/>
              <a:t>X</a:t>
            </a:r>
            <a:endParaRPr lang="zh-TW" altLang="en-US" dirty="0"/>
          </a:p>
        </p:txBody>
      </p:sp>
      <p:sp>
        <p:nvSpPr>
          <p:cNvPr id="7" name="文字方塊 6">
            <a:extLst>
              <a:ext uri="{FF2B5EF4-FFF2-40B4-BE49-F238E27FC236}">
                <a16:creationId xmlns:a16="http://schemas.microsoft.com/office/drawing/2014/main" id="{8B9242C9-501D-8CA5-94DB-A153508D4CBB}"/>
              </a:ext>
            </a:extLst>
          </p:cNvPr>
          <p:cNvSpPr txBox="1"/>
          <p:nvPr/>
        </p:nvSpPr>
        <p:spPr>
          <a:xfrm>
            <a:off x="5783094" y="1017037"/>
            <a:ext cx="309700" cy="369332"/>
          </a:xfrm>
          <a:prstGeom prst="rect">
            <a:avLst/>
          </a:prstGeom>
          <a:noFill/>
        </p:spPr>
        <p:txBody>
          <a:bodyPr wrap="none" rtlCol="0">
            <a:spAutoFit/>
          </a:bodyPr>
          <a:lstStyle/>
          <a:p>
            <a:r>
              <a:rPr lang="en-US" altLang="zh-TW" dirty="0"/>
              <a:t>Y</a:t>
            </a:r>
            <a:endParaRPr lang="zh-TW" altLang="en-US" dirty="0"/>
          </a:p>
        </p:txBody>
      </p:sp>
      <p:cxnSp>
        <p:nvCxnSpPr>
          <p:cNvPr id="9" name="直線單箭頭接點 8">
            <a:extLst>
              <a:ext uri="{FF2B5EF4-FFF2-40B4-BE49-F238E27FC236}">
                <a16:creationId xmlns:a16="http://schemas.microsoft.com/office/drawing/2014/main" id="{1FD00D63-0C77-6E4F-5A46-37082A49883A}"/>
              </a:ext>
            </a:extLst>
          </p:cNvPr>
          <p:cNvCxnSpPr/>
          <p:nvPr/>
        </p:nvCxnSpPr>
        <p:spPr>
          <a:xfrm flipV="1">
            <a:off x="6680718" y="4001294"/>
            <a:ext cx="2985796" cy="66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線單箭頭接點 10">
            <a:extLst>
              <a:ext uri="{FF2B5EF4-FFF2-40B4-BE49-F238E27FC236}">
                <a16:creationId xmlns:a16="http://schemas.microsoft.com/office/drawing/2014/main" id="{E7510A0E-876C-C7D9-7302-9982D20FBD79}"/>
              </a:ext>
            </a:extLst>
          </p:cNvPr>
          <p:cNvCxnSpPr/>
          <p:nvPr/>
        </p:nvCxnSpPr>
        <p:spPr>
          <a:xfrm flipV="1">
            <a:off x="6096000" y="1386369"/>
            <a:ext cx="0" cy="26817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5925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AEDB-BC1A-A86D-3A26-A6E2D70F5B96}"/>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A142E478-4B8E-8540-0DEB-C0FD6E0490B1}"/>
              </a:ext>
            </a:extLst>
          </p:cNvPr>
          <p:cNvPicPr>
            <a:picLocks noChangeAspect="1"/>
          </p:cNvPicPr>
          <p:nvPr/>
        </p:nvPicPr>
        <p:blipFill>
          <a:blip r:embed="rId2"/>
          <a:stretch>
            <a:fillRect/>
          </a:stretch>
        </p:blipFill>
        <p:spPr>
          <a:xfrm>
            <a:off x="6130916" y="393172"/>
            <a:ext cx="5091427" cy="6143314"/>
          </a:xfrm>
          <a:prstGeom prst="rect">
            <a:avLst/>
          </a:prstGeom>
        </p:spPr>
      </p:pic>
      <p:sp>
        <p:nvSpPr>
          <p:cNvPr id="4" name="文字方塊 3">
            <a:extLst>
              <a:ext uri="{FF2B5EF4-FFF2-40B4-BE49-F238E27FC236}">
                <a16:creationId xmlns:a16="http://schemas.microsoft.com/office/drawing/2014/main" id="{71533696-D323-9663-4F89-FE04ECA41D86}"/>
              </a:ext>
            </a:extLst>
          </p:cNvPr>
          <p:cNvSpPr txBox="1"/>
          <p:nvPr/>
        </p:nvSpPr>
        <p:spPr>
          <a:xfrm>
            <a:off x="377687" y="208722"/>
            <a:ext cx="1089401" cy="369332"/>
          </a:xfrm>
          <a:prstGeom prst="rect">
            <a:avLst/>
          </a:prstGeom>
          <a:noFill/>
        </p:spPr>
        <p:txBody>
          <a:bodyPr wrap="none" rtlCol="0">
            <a:spAutoFit/>
          </a:bodyPr>
          <a:lstStyle/>
          <a:p>
            <a:r>
              <a:rPr lang="en-US" altLang="zh-TW" u="sng" dirty="0"/>
              <a:t>PD</a:t>
            </a:r>
            <a:r>
              <a:rPr lang="zh-TW" altLang="en-US" u="sng" dirty="0"/>
              <a:t> </a:t>
            </a:r>
            <a:r>
              <a:rPr lang="en-US" altLang="zh-TW" u="sng" dirty="0"/>
              <a:t>PCBA</a:t>
            </a:r>
            <a:endParaRPr lang="zh-TW" altLang="en-US" u="sng" dirty="0"/>
          </a:p>
        </p:txBody>
      </p:sp>
      <p:pic>
        <p:nvPicPr>
          <p:cNvPr id="6" name="圖片 5">
            <a:extLst>
              <a:ext uri="{FF2B5EF4-FFF2-40B4-BE49-F238E27FC236}">
                <a16:creationId xmlns:a16="http://schemas.microsoft.com/office/drawing/2014/main" id="{F395FA4E-59F6-E584-11D5-51216DD0BDA0}"/>
              </a:ext>
            </a:extLst>
          </p:cNvPr>
          <p:cNvPicPr>
            <a:picLocks noChangeAspect="1"/>
          </p:cNvPicPr>
          <p:nvPr/>
        </p:nvPicPr>
        <p:blipFill>
          <a:blip r:embed="rId3"/>
          <a:stretch>
            <a:fillRect/>
          </a:stretch>
        </p:blipFill>
        <p:spPr>
          <a:xfrm>
            <a:off x="617049" y="3464829"/>
            <a:ext cx="4869943" cy="3107487"/>
          </a:xfrm>
          <a:prstGeom prst="rect">
            <a:avLst/>
          </a:prstGeom>
        </p:spPr>
      </p:pic>
      <p:sp>
        <p:nvSpPr>
          <p:cNvPr id="7" name="文字方塊 6">
            <a:extLst>
              <a:ext uri="{FF2B5EF4-FFF2-40B4-BE49-F238E27FC236}">
                <a16:creationId xmlns:a16="http://schemas.microsoft.com/office/drawing/2014/main" id="{DD3CD07F-2FEE-E590-270B-DD3F433F535B}"/>
              </a:ext>
            </a:extLst>
          </p:cNvPr>
          <p:cNvSpPr txBox="1"/>
          <p:nvPr/>
        </p:nvSpPr>
        <p:spPr>
          <a:xfrm>
            <a:off x="6287566" y="4432853"/>
            <a:ext cx="460382" cy="276999"/>
          </a:xfrm>
          <a:prstGeom prst="rect">
            <a:avLst/>
          </a:prstGeom>
          <a:noFill/>
        </p:spPr>
        <p:txBody>
          <a:bodyPr wrap="none" rtlCol="0">
            <a:spAutoFit/>
          </a:bodyPr>
          <a:lstStyle/>
          <a:p>
            <a:r>
              <a:rPr lang="en-US" altLang="zh-TW" sz="1200" dirty="0">
                <a:solidFill>
                  <a:srgbClr val="FFFF00"/>
                </a:solidFill>
              </a:rPr>
              <a:t>PD1</a:t>
            </a:r>
            <a:endParaRPr lang="zh-TW" altLang="en-US" sz="1200" dirty="0">
              <a:solidFill>
                <a:srgbClr val="FFFF00"/>
              </a:solidFill>
            </a:endParaRPr>
          </a:p>
        </p:txBody>
      </p:sp>
      <p:sp>
        <p:nvSpPr>
          <p:cNvPr id="8" name="文字方塊 7">
            <a:extLst>
              <a:ext uri="{FF2B5EF4-FFF2-40B4-BE49-F238E27FC236}">
                <a16:creationId xmlns:a16="http://schemas.microsoft.com/office/drawing/2014/main" id="{87BE6B61-7DAD-9C5A-570B-0E9FFCC269A4}"/>
              </a:ext>
            </a:extLst>
          </p:cNvPr>
          <p:cNvSpPr txBox="1"/>
          <p:nvPr/>
        </p:nvSpPr>
        <p:spPr>
          <a:xfrm>
            <a:off x="6287566" y="2935357"/>
            <a:ext cx="460382" cy="276999"/>
          </a:xfrm>
          <a:prstGeom prst="rect">
            <a:avLst/>
          </a:prstGeom>
          <a:noFill/>
        </p:spPr>
        <p:txBody>
          <a:bodyPr wrap="none" rtlCol="0">
            <a:spAutoFit/>
          </a:bodyPr>
          <a:lstStyle/>
          <a:p>
            <a:r>
              <a:rPr lang="en-US" altLang="zh-TW" sz="1200" dirty="0">
                <a:solidFill>
                  <a:srgbClr val="FFFF00"/>
                </a:solidFill>
              </a:rPr>
              <a:t>PD2</a:t>
            </a:r>
            <a:endParaRPr lang="zh-TW" altLang="en-US" sz="1200" dirty="0">
              <a:solidFill>
                <a:srgbClr val="FFFF00"/>
              </a:solidFill>
            </a:endParaRPr>
          </a:p>
        </p:txBody>
      </p:sp>
      <p:sp>
        <p:nvSpPr>
          <p:cNvPr id="9" name="文字方塊 8">
            <a:extLst>
              <a:ext uri="{FF2B5EF4-FFF2-40B4-BE49-F238E27FC236}">
                <a16:creationId xmlns:a16="http://schemas.microsoft.com/office/drawing/2014/main" id="{9E51529D-AF93-AA5C-C991-8B4BC678F597}"/>
              </a:ext>
            </a:extLst>
          </p:cNvPr>
          <p:cNvSpPr txBox="1"/>
          <p:nvPr/>
        </p:nvSpPr>
        <p:spPr>
          <a:xfrm>
            <a:off x="6410148" y="1387265"/>
            <a:ext cx="460382" cy="276999"/>
          </a:xfrm>
          <a:prstGeom prst="rect">
            <a:avLst/>
          </a:prstGeom>
          <a:noFill/>
        </p:spPr>
        <p:txBody>
          <a:bodyPr wrap="none" rtlCol="0">
            <a:spAutoFit/>
          </a:bodyPr>
          <a:lstStyle/>
          <a:p>
            <a:r>
              <a:rPr lang="en-US" altLang="zh-TW" sz="1200" dirty="0">
                <a:solidFill>
                  <a:srgbClr val="FFFF00"/>
                </a:solidFill>
              </a:rPr>
              <a:t>PD3</a:t>
            </a:r>
            <a:endParaRPr lang="zh-TW" altLang="en-US" sz="1200" dirty="0">
              <a:solidFill>
                <a:srgbClr val="FFFF00"/>
              </a:solidFill>
            </a:endParaRPr>
          </a:p>
        </p:txBody>
      </p:sp>
    </p:spTree>
    <p:extLst>
      <p:ext uri="{BB962C8B-B14F-4D97-AF65-F5344CB8AC3E}">
        <p14:creationId xmlns:p14="http://schemas.microsoft.com/office/powerpoint/2010/main" val="4234691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FBE6-D1EB-1876-ED9F-85C5458CDDE9}"/>
            </a:ext>
          </a:extLst>
        </p:cNvPr>
        <p:cNvGrpSpPr/>
        <p:nvPr/>
      </p:nvGrpSpPr>
      <p:grpSpPr>
        <a:xfrm>
          <a:off x="0" y="0"/>
          <a:ext cx="0" cy="0"/>
          <a:chOff x="0" y="0"/>
          <a:chExt cx="0" cy="0"/>
        </a:xfrm>
      </p:grpSpPr>
      <p:pic>
        <p:nvPicPr>
          <p:cNvPr id="3" name="圖片 2" descr="IRS.&#10;&#10;AI 產生的內容可能不正確。">
            <a:extLst>
              <a:ext uri="{FF2B5EF4-FFF2-40B4-BE49-F238E27FC236}">
                <a16:creationId xmlns:a16="http://schemas.microsoft.com/office/drawing/2014/main" id="{A6DCFA1D-1E21-9F04-FC09-B4C35698F03A}"/>
              </a:ext>
            </a:extLst>
          </p:cNvPr>
          <p:cNvPicPr>
            <a:picLocks noChangeAspect="1"/>
          </p:cNvPicPr>
          <p:nvPr/>
        </p:nvPicPr>
        <p:blipFill>
          <a:blip r:embed="rId2"/>
          <a:stretch>
            <a:fillRect/>
          </a:stretch>
        </p:blipFill>
        <p:spPr>
          <a:xfrm>
            <a:off x="0" y="0"/>
            <a:ext cx="5957536" cy="6858000"/>
          </a:xfrm>
          <a:prstGeom prst="rect">
            <a:avLst/>
          </a:prstGeom>
        </p:spPr>
      </p:pic>
      <p:sp>
        <p:nvSpPr>
          <p:cNvPr id="4" name="手繪多邊形: 圖案 3">
            <a:extLst>
              <a:ext uri="{FF2B5EF4-FFF2-40B4-BE49-F238E27FC236}">
                <a16:creationId xmlns:a16="http://schemas.microsoft.com/office/drawing/2014/main" id="{BE1EEFD6-022C-26FD-0F58-384E5DB117F5}"/>
              </a:ext>
            </a:extLst>
          </p:cNvPr>
          <p:cNvSpPr/>
          <p:nvPr/>
        </p:nvSpPr>
        <p:spPr>
          <a:xfrm>
            <a:off x="3535680" y="2571039"/>
            <a:ext cx="1280160" cy="2916131"/>
          </a:xfrm>
          <a:custGeom>
            <a:avLst/>
            <a:gdLst>
              <a:gd name="csX0" fmla="*/ 1188720 w 1280160"/>
              <a:gd name="csY0" fmla="*/ 29921 h 2916131"/>
              <a:gd name="csX1" fmla="*/ 914400 w 1280160"/>
              <a:gd name="csY1" fmla="*/ 19761 h 2916131"/>
              <a:gd name="csX2" fmla="*/ 812800 w 1280160"/>
              <a:gd name="csY2" fmla="*/ 40081 h 2916131"/>
              <a:gd name="csX3" fmla="*/ 772160 w 1280160"/>
              <a:gd name="csY3" fmla="*/ 60401 h 2916131"/>
              <a:gd name="csX4" fmla="*/ 721360 w 1280160"/>
              <a:gd name="csY4" fmla="*/ 80721 h 2916131"/>
              <a:gd name="csX5" fmla="*/ 609600 w 1280160"/>
              <a:gd name="csY5" fmla="*/ 131521 h 2916131"/>
              <a:gd name="csX6" fmla="*/ 568960 w 1280160"/>
              <a:gd name="csY6" fmla="*/ 151841 h 2916131"/>
              <a:gd name="csX7" fmla="*/ 518160 w 1280160"/>
              <a:gd name="csY7" fmla="*/ 172161 h 2916131"/>
              <a:gd name="csX8" fmla="*/ 426720 w 1280160"/>
              <a:gd name="csY8" fmla="*/ 243281 h 2916131"/>
              <a:gd name="csX9" fmla="*/ 274320 w 1280160"/>
              <a:gd name="csY9" fmla="*/ 456641 h 2916131"/>
              <a:gd name="csX10" fmla="*/ 213360 w 1280160"/>
              <a:gd name="csY10" fmla="*/ 568401 h 2916131"/>
              <a:gd name="csX11" fmla="*/ 142240 w 1280160"/>
              <a:gd name="csY11" fmla="*/ 741121 h 2916131"/>
              <a:gd name="csX12" fmla="*/ 20320 w 1280160"/>
              <a:gd name="csY12" fmla="*/ 1198321 h 2916131"/>
              <a:gd name="csX13" fmla="*/ 0 w 1280160"/>
              <a:gd name="csY13" fmla="*/ 1371041 h 2916131"/>
              <a:gd name="csX14" fmla="*/ 20320 w 1280160"/>
              <a:gd name="csY14" fmla="*/ 1828241 h 2916131"/>
              <a:gd name="csX15" fmla="*/ 101600 w 1280160"/>
              <a:gd name="csY15" fmla="*/ 2031441 h 2916131"/>
              <a:gd name="csX16" fmla="*/ 162560 w 1280160"/>
              <a:gd name="csY16" fmla="*/ 2163521 h 2916131"/>
              <a:gd name="csX17" fmla="*/ 274320 w 1280160"/>
              <a:gd name="csY17" fmla="*/ 2326081 h 2916131"/>
              <a:gd name="csX18" fmla="*/ 314960 w 1280160"/>
              <a:gd name="csY18" fmla="*/ 2387041 h 2916131"/>
              <a:gd name="csX19" fmla="*/ 345440 w 1280160"/>
              <a:gd name="csY19" fmla="*/ 2458161 h 2916131"/>
              <a:gd name="csX20" fmla="*/ 386080 w 1280160"/>
              <a:gd name="csY20" fmla="*/ 2498801 h 2916131"/>
              <a:gd name="csX21" fmla="*/ 406400 w 1280160"/>
              <a:gd name="csY21" fmla="*/ 2529281 h 2916131"/>
              <a:gd name="csX22" fmla="*/ 508000 w 1280160"/>
              <a:gd name="csY22" fmla="*/ 2600401 h 2916131"/>
              <a:gd name="csX23" fmla="*/ 609600 w 1280160"/>
              <a:gd name="csY23" fmla="*/ 2651201 h 2916131"/>
              <a:gd name="csX24" fmla="*/ 660400 w 1280160"/>
              <a:gd name="csY24" fmla="*/ 2661361 h 2916131"/>
              <a:gd name="csX25" fmla="*/ 833120 w 1280160"/>
              <a:gd name="csY25" fmla="*/ 2681681 h 2916131"/>
              <a:gd name="csX26" fmla="*/ 873760 w 1280160"/>
              <a:gd name="csY26" fmla="*/ 2691841 h 2916131"/>
              <a:gd name="csX27" fmla="*/ 955040 w 1280160"/>
              <a:gd name="csY27" fmla="*/ 2702001 h 2916131"/>
              <a:gd name="csX28" fmla="*/ 1026160 w 1280160"/>
              <a:gd name="csY28" fmla="*/ 2712161 h 2916131"/>
              <a:gd name="csX29" fmla="*/ 1280160 w 1280160"/>
              <a:gd name="csY29" fmla="*/ 2793441 h 2916131"/>
              <a:gd name="csX30" fmla="*/ 1198880 w 1280160"/>
              <a:gd name="csY30" fmla="*/ 2661361 h 2916131"/>
              <a:gd name="csX31" fmla="*/ 1148080 w 1280160"/>
              <a:gd name="csY31" fmla="*/ 2580081 h 2916131"/>
              <a:gd name="csX32" fmla="*/ 1198880 w 1280160"/>
              <a:gd name="csY32" fmla="*/ 2854401 h 2916131"/>
              <a:gd name="csX33" fmla="*/ 1219200 w 1280160"/>
              <a:gd name="csY33" fmla="*/ 2762961 h 2916131"/>
              <a:gd name="csX34" fmla="*/ 1239520 w 1280160"/>
              <a:gd name="csY34" fmla="*/ 2752801 h 2916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280160" h="2916131">
                <a:moveTo>
                  <a:pt x="1188720" y="29921"/>
                </a:moveTo>
                <a:cubicBezTo>
                  <a:pt x="1074453" y="-15786"/>
                  <a:pt x="1132494" y="-685"/>
                  <a:pt x="914400" y="19761"/>
                </a:cubicBezTo>
                <a:cubicBezTo>
                  <a:pt x="880013" y="22985"/>
                  <a:pt x="812800" y="40081"/>
                  <a:pt x="812800" y="40081"/>
                </a:cubicBezTo>
                <a:cubicBezTo>
                  <a:pt x="799253" y="46854"/>
                  <a:pt x="786000" y="54250"/>
                  <a:pt x="772160" y="60401"/>
                </a:cubicBezTo>
                <a:cubicBezTo>
                  <a:pt x="755494" y="67808"/>
                  <a:pt x="737371" y="71988"/>
                  <a:pt x="721360" y="80721"/>
                </a:cubicBezTo>
                <a:cubicBezTo>
                  <a:pt x="619601" y="136226"/>
                  <a:pt x="703037" y="112834"/>
                  <a:pt x="609600" y="131521"/>
                </a:cubicBezTo>
                <a:cubicBezTo>
                  <a:pt x="596053" y="138294"/>
                  <a:pt x="582800" y="145690"/>
                  <a:pt x="568960" y="151841"/>
                </a:cubicBezTo>
                <a:cubicBezTo>
                  <a:pt x="552294" y="159248"/>
                  <a:pt x="533501" y="162299"/>
                  <a:pt x="518160" y="172161"/>
                </a:cubicBezTo>
                <a:cubicBezTo>
                  <a:pt x="485679" y="193042"/>
                  <a:pt x="454024" y="215977"/>
                  <a:pt x="426720" y="243281"/>
                </a:cubicBezTo>
                <a:cubicBezTo>
                  <a:pt x="349381" y="320620"/>
                  <a:pt x="354284" y="310040"/>
                  <a:pt x="274320" y="456641"/>
                </a:cubicBezTo>
                <a:cubicBezTo>
                  <a:pt x="254000" y="493894"/>
                  <a:pt x="231230" y="529912"/>
                  <a:pt x="213360" y="568401"/>
                </a:cubicBezTo>
                <a:cubicBezTo>
                  <a:pt x="187140" y="624874"/>
                  <a:pt x="162748" y="682332"/>
                  <a:pt x="142240" y="741121"/>
                </a:cubicBezTo>
                <a:cubicBezTo>
                  <a:pt x="87254" y="898748"/>
                  <a:pt x="47369" y="1036029"/>
                  <a:pt x="20320" y="1198321"/>
                </a:cubicBezTo>
                <a:cubicBezTo>
                  <a:pt x="10790" y="1255503"/>
                  <a:pt x="6773" y="1313468"/>
                  <a:pt x="0" y="1371041"/>
                </a:cubicBezTo>
                <a:cubicBezTo>
                  <a:pt x="6773" y="1523441"/>
                  <a:pt x="-2876" y="1677464"/>
                  <a:pt x="20320" y="1828241"/>
                </a:cubicBezTo>
                <a:cubicBezTo>
                  <a:pt x="31413" y="1900344"/>
                  <a:pt x="71029" y="1965204"/>
                  <a:pt x="101600" y="2031441"/>
                </a:cubicBezTo>
                <a:cubicBezTo>
                  <a:pt x="121920" y="2075468"/>
                  <a:pt x="138038" y="2121689"/>
                  <a:pt x="162560" y="2163521"/>
                </a:cubicBezTo>
                <a:cubicBezTo>
                  <a:pt x="195815" y="2220250"/>
                  <a:pt x="237277" y="2271751"/>
                  <a:pt x="274320" y="2326081"/>
                </a:cubicBezTo>
                <a:cubicBezTo>
                  <a:pt x="288078" y="2346259"/>
                  <a:pt x="305340" y="2364594"/>
                  <a:pt x="314960" y="2387041"/>
                </a:cubicBezTo>
                <a:cubicBezTo>
                  <a:pt x="325120" y="2410748"/>
                  <a:pt x="331593" y="2436401"/>
                  <a:pt x="345440" y="2458161"/>
                </a:cubicBezTo>
                <a:cubicBezTo>
                  <a:pt x="355725" y="2474324"/>
                  <a:pt x="373612" y="2484255"/>
                  <a:pt x="386080" y="2498801"/>
                </a:cubicBezTo>
                <a:cubicBezTo>
                  <a:pt x="394027" y="2508072"/>
                  <a:pt x="397766" y="2520647"/>
                  <a:pt x="406400" y="2529281"/>
                </a:cubicBezTo>
                <a:cubicBezTo>
                  <a:pt x="419800" y="2542681"/>
                  <a:pt x="500413" y="2596133"/>
                  <a:pt x="508000" y="2600401"/>
                </a:cubicBezTo>
                <a:cubicBezTo>
                  <a:pt x="541001" y="2618964"/>
                  <a:pt x="572471" y="2643775"/>
                  <a:pt x="609600" y="2651201"/>
                </a:cubicBezTo>
                <a:cubicBezTo>
                  <a:pt x="626533" y="2654588"/>
                  <a:pt x="643305" y="2658919"/>
                  <a:pt x="660400" y="2661361"/>
                </a:cubicBezTo>
                <a:cubicBezTo>
                  <a:pt x="717505" y="2669519"/>
                  <a:pt x="776140" y="2672184"/>
                  <a:pt x="833120" y="2681681"/>
                </a:cubicBezTo>
                <a:cubicBezTo>
                  <a:pt x="846894" y="2683977"/>
                  <a:pt x="859986" y="2689545"/>
                  <a:pt x="873760" y="2691841"/>
                </a:cubicBezTo>
                <a:cubicBezTo>
                  <a:pt x="900693" y="2696330"/>
                  <a:pt x="927975" y="2698392"/>
                  <a:pt x="955040" y="2702001"/>
                </a:cubicBezTo>
                <a:lnTo>
                  <a:pt x="1026160" y="2712161"/>
                </a:lnTo>
                <a:cubicBezTo>
                  <a:pt x="1225215" y="2782416"/>
                  <a:pt x="1139649" y="2758313"/>
                  <a:pt x="1280160" y="2793441"/>
                </a:cubicBezTo>
                <a:lnTo>
                  <a:pt x="1198880" y="2661361"/>
                </a:lnTo>
                <a:cubicBezTo>
                  <a:pt x="1182063" y="2634195"/>
                  <a:pt x="1148080" y="2580081"/>
                  <a:pt x="1148080" y="2580081"/>
                </a:cubicBezTo>
                <a:cubicBezTo>
                  <a:pt x="1149416" y="2602122"/>
                  <a:pt x="1122459" y="3083665"/>
                  <a:pt x="1198880" y="2854401"/>
                </a:cubicBezTo>
                <a:cubicBezTo>
                  <a:pt x="1200184" y="2850489"/>
                  <a:pt x="1208045" y="2777834"/>
                  <a:pt x="1219200" y="2762961"/>
                </a:cubicBezTo>
                <a:cubicBezTo>
                  <a:pt x="1223744" y="2756903"/>
                  <a:pt x="1232747" y="2756188"/>
                  <a:pt x="1239520" y="2752801"/>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5AF319AF-90A7-3E70-8356-3ADE81FCDEE2}"/>
              </a:ext>
            </a:extLst>
          </p:cNvPr>
          <p:cNvSpPr txBox="1"/>
          <p:nvPr/>
        </p:nvSpPr>
        <p:spPr>
          <a:xfrm>
            <a:off x="6490546" y="5487170"/>
            <a:ext cx="4857420" cy="369332"/>
          </a:xfrm>
          <a:prstGeom prst="rect">
            <a:avLst/>
          </a:prstGeom>
          <a:noFill/>
        </p:spPr>
        <p:txBody>
          <a:bodyPr wrap="none" rtlCol="0">
            <a:spAutoFit/>
          </a:bodyPr>
          <a:lstStyle/>
          <a:p>
            <a:r>
              <a:rPr lang="en-US" altLang="zh-TW" dirty="0"/>
              <a:t>PD</a:t>
            </a:r>
            <a:r>
              <a:rPr lang="zh-TW" altLang="en-US" dirty="0"/>
              <a:t>之 </a:t>
            </a:r>
            <a:r>
              <a:rPr lang="en-US" altLang="zh-TW" dirty="0"/>
              <a:t>J6</a:t>
            </a:r>
            <a:r>
              <a:rPr lang="zh-TW" altLang="en-US" dirty="0"/>
              <a:t> 與 邏輯版 </a:t>
            </a:r>
            <a:r>
              <a:rPr lang="en-US" altLang="zh-TW" dirty="0"/>
              <a:t>J5</a:t>
            </a:r>
            <a:r>
              <a:rPr lang="zh-TW" altLang="en-US" dirty="0"/>
              <a:t> 連接，傳送</a:t>
            </a:r>
            <a:r>
              <a:rPr lang="en-US" altLang="zh-TW" dirty="0"/>
              <a:t>PD</a:t>
            </a:r>
            <a:r>
              <a:rPr lang="zh-TW" altLang="en-US" dirty="0"/>
              <a:t>訊號給</a:t>
            </a:r>
            <a:r>
              <a:rPr lang="en-US" altLang="zh-TW" dirty="0"/>
              <a:t>ADC</a:t>
            </a:r>
            <a:endParaRPr lang="zh-TW" altLang="en-US" dirty="0"/>
          </a:p>
        </p:txBody>
      </p:sp>
      <p:pic>
        <p:nvPicPr>
          <p:cNvPr id="7" name="圖片 6" descr="The diagram shows a sequence of numbered components connected to various power and ground lines, including PD-1 to PD-3 and a signal line PD_SIG.&#10;&#10;AI 產生的內容可能不正確。">
            <a:extLst>
              <a:ext uri="{FF2B5EF4-FFF2-40B4-BE49-F238E27FC236}">
                <a16:creationId xmlns:a16="http://schemas.microsoft.com/office/drawing/2014/main" id="{675AC4B2-F76D-DA07-EEA3-CE08F6F6CAE9}"/>
              </a:ext>
            </a:extLst>
          </p:cNvPr>
          <p:cNvPicPr>
            <a:picLocks noChangeAspect="1"/>
          </p:cNvPicPr>
          <p:nvPr/>
        </p:nvPicPr>
        <p:blipFill>
          <a:blip r:embed="rId3"/>
          <a:stretch>
            <a:fillRect/>
          </a:stretch>
        </p:blipFill>
        <p:spPr>
          <a:xfrm>
            <a:off x="6490546" y="-1"/>
            <a:ext cx="5552635" cy="2571039"/>
          </a:xfrm>
          <a:prstGeom prst="rect">
            <a:avLst/>
          </a:prstGeom>
        </p:spPr>
      </p:pic>
      <p:pic>
        <p:nvPicPr>
          <p:cNvPr id="9" name="圖片 8" descr="The image depicts a circuit diagram with various components, including a J5 connector, multiple PD-signals, and GND connections, with numerical values indicating voltage levels.&#10;&#10;AI 產生的內容可能不正確。">
            <a:extLst>
              <a:ext uri="{FF2B5EF4-FFF2-40B4-BE49-F238E27FC236}">
                <a16:creationId xmlns:a16="http://schemas.microsoft.com/office/drawing/2014/main" id="{2461CD80-8119-8133-5C51-CA4AE052F46F}"/>
              </a:ext>
            </a:extLst>
          </p:cNvPr>
          <p:cNvPicPr>
            <a:picLocks noChangeAspect="1"/>
          </p:cNvPicPr>
          <p:nvPr/>
        </p:nvPicPr>
        <p:blipFill>
          <a:blip r:embed="rId4"/>
          <a:stretch>
            <a:fillRect/>
          </a:stretch>
        </p:blipFill>
        <p:spPr>
          <a:xfrm>
            <a:off x="6490546" y="2571038"/>
            <a:ext cx="5560003" cy="2788362"/>
          </a:xfrm>
          <a:prstGeom prst="rect">
            <a:avLst/>
          </a:prstGeom>
        </p:spPr>
      </p:pic>
    </p:spTree>
    <p:extLst>
      <p:ext uri="{BB962C8B-B14F-4D97-AF65-F5344CB8AC3E}">
        <p14:creationId xmlns:p14="http://schemas.microsoft.com/office/powerpoint/2010/main" val="3949964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6F5E8-C0BA-D82D-9B80-FD8C63360534}"/>
            </a:ext>
          </a:extLst>
        </p:cNvPr>
        <p:cNvGrpSpPr/>
        <p:nvPr/>
      </p:nvGrpSpPr>
      <p:grpSpPr>
        <a:xfrm>
          <a:off x="0" y="0"/>
          <a:ext cx="0" cy="0"/>
          <a:chOff x="0" y="0"/>
          <a:chExt cx="0" cy="0"/>
        </a:xfrm>
      </p:grpSpPr>
      <p:pic>
        <p:nvPicPr>
          <p:cNvPr id="3" name="圖片 2" descr="The text appears to be a list of electronic components and connections, including ground (GND), various integrated circuits (ICs), resistors (R1, R2), diodes (DAC1, DAC2, DAC3), and other electrical symbols, with some values and voltage levels specified. It seems to be a schematic or circuit diagram.&#10;&#10;AI 產生的內容可能不正確。">
            <a:extLst>
              <a:ext uri="{FF2B5EF4-FFF2-40B4-BE49-F238E27FC236}">
                <a16:creationId xmlns:a16="http://schemas.microsoft.com/office/drawing/2014/main" id="{9DC37871-889B-C1C4-C91B-32145F1B2C3C}"/>
              </a:ext>
            </a:extLst>
          </p:cNvPr>
          <p:cNvPicPr>
            <a:picLocks noChangeAspect="1"/>
          </p:cNvPicPr>
          <p:nvPr/>
        </p:nvPicPr>
        <p:blipFill>
          <a:blip r:embed="rId2"/>
          <a:stretch>
            <a:fillRect/>
          </a:stretch>
        </p:blipFill>
        <p:spPr>
          <a:xfrm>
            <a:off x="1805650" y="318405"/>
            <a:ext cx="8349205" cy="3110595"/>
          </a:xfrm>
          <a:prstGeom prst="rect">
            <a:avLst/>
          </a:prstGeom>
        </p:spPr>
      </p:pic>
      <p:sp>
        <p:nvSpPr>
          <p:cNvPr id="4" name="文字方塊 3">
            <a:extLst>
              <a:ext uri="{FF2B5EF4-FFF2-40B4-BE49-F238E27FC236}">
                <a16:creationId xmlns:a16="http://schemas.microsoft.com/office/drawing/2014/main" id="{A1383500-FAA1-676B-01F6-ADFFBD48FFCE}"/>
              </a:ext>
            </a:extLst>
          </p:cNvPr>
          <p:cNvSpPr txBox="1"/>
          <p:nvPr/>
        </p:nvSpPr>
        <p:spPr>
          <a:xfrm>
            <a:off x="680055" y="3901437"/>
            <a:ext cx="5415945" cy="646331"/>
          </a:xfrm>
          <a:prstGeom prst="rect">
            <a:avLst/>
          </a:prstGeom>
          <a:noFill/>
        </p:spPr>
        <p:txBody>
          <a:bodyPr wrap="square" rtlCol="0">
            <a:spAutoFit/>
          </a:bodyPr>
          <a:lstStyle/>
          <a:p>
            <a:r>
              <a:rPr lang="en-US" altLang="zh-TW" dirty="0"/>
              <a:t>Sensor </a:t>
            </a:r>
            <a:r>
              <a:rPr lang="zh-TW" altLang="en-US" dirty="0"/>
              <a:t>之 </a:t>
            </a:r>
            <a:r>
              <a:rPr lang="en-US" altLang="zh-TW" dirty="0"/>
              <a:t>J8, J9 ,J10 </a:t>
            </a:r>
            <a:r>
              <a:rPr lang="zh-TW" altLang="en-US" dirty="0"/>
              <a:t>連接器連接到 </a:t>
            </a:r>
            <a:r>
              <a:rPr lang="en-US" altLang="zh-TW" dirty="0"/>
              <a:t>OH</a:t>
            </a:r>
            <a:r>
              <a:rPr lang="zh-TW" altLang="en-US" dirty="0"/>
              <a:t>，傳送</a:t>
            </a:r>
            <a:r>
              <a:rPr lang="en-US" altLang="zh-TW" dirty="0"/>
              <a:t>DAC</a:t>
            </a:r>
            <a:r>
              <a:rPr lang="zh-TW" altLang="en-US" dirty="0"/>
              <a:t>訊號與輸入溫度計訊號</a:t>
            </a:r>
          </a:p>
        </p:txBody>
      </p:sp>
      <p:pic>
        <p:nvPicPr>
          <p:cNvPr id="6" name="圖片 5" descr="The diagram depicts a digital circuit with five inputs and outputs, including a temperature sensor (FOG_TEMP2), a positive voltage supply (+5V), and two digital-to-analog converters (DACs) with their positive and negative outputs.&#10;&#10;AI 產生的內容可能不正確。">
            <a:extLst>
              <a:ext uri="{FF2B5EF4-FFF2-40B4-BE49-F238E27FC236}">
                <a16:creationId xmlns:a16="http://schemas.microsoft.com/office/drawing/2014/main" id="{A3BDB45A-5F6F-F5AC-0C87-C59B72B7FD50}"/>
              </a:ext>
            </a:extLst>
          </p:cNvPr>
          <p:cNvPicPr>
            <a:picLocks noChangeAspect="1"/>
          </p:cNvPicPr>
          <p:nvPr/>
        </p:nvPicPr>
        <p:blipFill>
          <a:blip r:embed="rId3"/>
          <a:stretch>
            <a:fillRect/>
          </a:stretch>
        </p:blipFill>
        <p:spPr>
          <a:xfrm>
            <a:off x="6481822" y="3653983"/>
            <a:ext cx="5372843" cy="3133047"/>
          </a:xfrm>
          <a:prstGeom prst="rect">
            <a:avLst/>
          </a:prstGeom>
        </p:spPr>
      </p:pic>
    </p:spTree>
    <p:extLst>
      <p:ext uri="{BB962C8B-B14F-4D97-AF65-F5344CB8AC3E}">
        <p14:creationId xmlns:p14="http://schemas.microsoft.com/office/powerpoint/2010/main" val="346389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019D-91D6-A2D8-25B8-CCE4EDA5B636}"/>
            </a:ext>
          </a:extLst>
        </p:cNvPr>
        <p:cNvGrpSpPr/>
        <p:nvPr/>
      </p:nvGrpSpPr>
      <p:grpSpPr>
        <a:xfrm>
          <a:off x="0" y="0"/>
          <a:ext cx="0" cy="0"/>
          <a:chOff x="0" y="0"/>
          <a:chExt cx="0" cy="0"/>
        </a:xfrm>
      </p:grpSpPr>
    </p:spTree>
    <p:extLst>
      <p:ext uri="{BB962C8B-B14F-4D97-AF65-F5344CB8AC3E}">
        <p14:creationId xmlns:p14="http://schemas.microsoft.com/office/powerpoint/2010/main" val="40653986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315</Words>
  <Application>Microsoft Office PowerPoint</Application>
  <PresentationFormat>寬螢幕</PresentationFormat>
  <Paragraphs>65</Paragraphs>
  <Slides>8</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8</vt:i4>
      </vt:variant>
    </vt:vector>
  </HeadingPairs>
  <TitlesOfParts>
    <vt:vector size="13" baseType="lpstr">
      <vt:lpstr>微軟正黑體</vt:lpstr>
      <vt:lpstr>Aptos</vt:lpstr>
      <vt:lpstr>Aptos Display</vt:lpstr>
      <vt:lpstr>Arial</vt:lpstr>
      <vt:lpstr>Office 佈景主題</vt:lpstr>
      <vt:lpstr>軸向說明</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博文 蕭</dc:creator>
  <cp:lastModifiedBy>Adam Shiau</cp:lastModifiedBy>
  <cp:revision>13</cp:revision>
  <dcterms:created xsi:type="dcterms:W3CDTF">2025-09-10T13:51:24Z</dcterms:created>
  <dcterms:modified xsi:type="dcterms:W3CDTF">2026-04-22T10:12:07Z</dcterms:modified>
</cp:coreProperties>
</file>