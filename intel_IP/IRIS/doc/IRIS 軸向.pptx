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9" r:id="rId3"/>
    <p:sldId id="256" r:id="rId4"/>
    <p:sldId id="277" r:id="rId5"/>
    <p:sldId id="278" r:id="rId6"/>
    <p:sldId id="257" r:id="rId7"/>
    <p:sldId id="258" r:id="rId8"/>
    <p:sldId id="259" r:id="rId9"/>
    <p:sldId id="274" r:id="rId10"/>
    <p:sldId id="280" r:id="rId11"/>
    <p:sldId id="275" r:id="rId12"/>
    <p:sldId id="281" r:id="rId13"/>
    <p:sldId id="276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1:35:19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1:35:24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24575,'0'0'0,"-5"0"0,-6 0 0,-6 0 0,5 0 0,9 0 0,9 0 0,5 5 0,-1-4 0,-1-1-8191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1:36:29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1:36:29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24575,'0'0'0,"-5"0"0,-6 0 0,-6 0 0,5 0 0,9 0 0,9 0 0,5 5 0,-1-4 0,-1-1-8191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1:35:19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1:35:24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24575,'0'0'0,"-5"0"0,-6 0 0,-6 0 0,5 0 0,9 0 0,9 0 0,5 5 0,-1-4 0,-1-1-8191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1:36:29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1:36:29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24575,'0'0'0,"-5"0"0,-6 0 0,-6 0 0,5 0 0,9 0 0,9 0 0,5 5 0,-1-4 0,-1-1-8191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EBCFC6-20D3-12B1-B5DF-4776FB097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CBEDC2-0F03-2071-CEFC-17FED72EA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56938A-2E39-6F2A-9C80-54748778F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DBF7-DCB6-4A07-88E6-DF0FB7D434E2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295C20-2FC2-89DC-4AF5-5CD7C4635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8CF91B-8F3C-7BF1-6E3B-9EEC6377D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84FF-007C-4A85-8E47-D0E32C60A4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086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531A94-FE77-204E-9518-C130E861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7AFF53-72E5-CF59-BD79-5F660E093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2DA577-0EAB-17DC-2FEE-FBDCCCB97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DBF7-DCB6-4A07-88E6-DF0FB7D434E2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4D21CC-BC9C-07D2-9ADC-092B722A9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874818-B32C-C137-BBDB-57D0644E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84FF-007C-4A85-8E47-D0E32C60A4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5314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62CE4B-98E6-8F8E-E986-8B74B8D4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17699D-74A7-0215-5279-CAF1772E3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160F04-BDEC-9C10-043D-F92A3895F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DBF7-DCB6-4A07-88E6-DF0FB7D434E2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BFC2D3-17D6-B2FC-4299-85D5BF3DE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158F5E-ADAE-5529-BEAE-0F0F01D7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84FF-007C-4A85-8E47-D0E32C60A4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83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3F2A6D-9896-110E-A770-5CA930D57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038B15-1F2F-F738-5ABF-3B354B54A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C76B435-2FB5-5363-4553-8FB31FA7F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97BC83-EC47-E668-C19B-5E637952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DBF7-DCB6-4A07-88E6-DF0FB7D434E2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E01694-B743-4486-CB3B-2211E840B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2A231E-8A3A-76BD-F37B-92DDA7E0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84FF-007C-4A85-8E47-D0E32C60A4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252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9D0972-7892-F779-6565-B464896C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E60A4D-AE40-226B-BA28-8EF2ED8EE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75B342-0F77-2CB7-D9E8-C8A74BA4E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AF3C4C0-BADD-1F48-D63E-537CDAEA6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18DC3FE-EB30-6551-4E90-1859C44FD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870CFBF-199F-3D8B-2E9A-172A0B757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DBF7-DCB6-4A07-88E6-DF0FB7D434E2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362F677-1D81-09E4-5A02-2EF5EE362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D4F0656-E264-2958-2351-68D440F4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84FF-007C-4A85-8E47-D0E32C60A4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9031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AEBFE3-0E2F-8171-0430-0EAAE88D7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5F2E76F-AAE5-A0AB-BCB8-4EE0D226E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DBF7-DCB6-4A07-88E6-DF0FB7D434E2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9BA211F-A233-DEE5-392B-FD580B866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78BFAA-E620-9412-0D96-888CF112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84FF-007C-4A85-8E47-D0E32C60A4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005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6E23F61-7E86-6BC7-6F6B-CED7405B9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DBF7-DCB6-4A07-88E6-DF0FB7D434E2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485C18C-5C18-39ED-56EC-BC15D3A8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3520E6-AAEF-B08A-0997-47EC35C6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84FF-007C-4A85-8E47-D0E32C60A4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3354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60F487-D999-862A-B80E-CA1FBCA5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38A1D4-3286-B890-7E21-FDD42AB99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3B1DFA-F31B-09CC-D34D-05081CA63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8E781E-B591-482A-181E-048571BB7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DBF7-DCB6-4A07-88E6-DF0FB7D434E2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3341FE-CC94-5898-E6F0-DDFCFFFC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BD4C95-1327-6CDA-2EF2-EC562560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84FF-007C-4A85-8E47-D0E32C60A4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62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309523-9407-2CA1-7027-75673133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79AA3D6-0B6C-A143-578D-A205E2A90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992AE1D-CF2A-2D81-F2D1-7680DDE1F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BF8298-8413-61AF-8B80-94A8E26F0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DBF7-DCB6-4A07-88E6-DF0FB7D434E2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8343633-6265-196E-973A-A50DACB1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DCBE824-70F8-62BF-4D23-7C1ACAC7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84FF-007C-4A85-8E47-D0E32C60A4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64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FF37B1-3806-6F07-90F6-EA1E76E9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7ECE3F8-3F1C-0599-1961-3C280D68A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672DD7-3EB2-2CED-D215-17753BA7C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DBF7-DCB6-4A07-88E6-DF0FB7D434E2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555A3C-71BD-5242-86C9-28829CB0B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CB6A9D-919A-0959-1551-7B05C5DF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84FF-007C-4A85-8E47-D0E32C60A4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291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CACE613-B613-F5CB-9C4E-16C76473B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A2BBFA-0E85-73AB-04DC-EBAC180DC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0C87CA-7EE2-6B92-29F2-A0E29A68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DBF7-DCB6-4A07-88E6-DF0FB7D434E2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18DE29-731E-E524-3671-15590CF2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5FE14B-BF3D-8DEA-48E1-F5E3CE25F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84FF-007C-4A85-8E47-D0E32C60A4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2256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EB0D63A-E2B0-3308-78C1-D22DC4729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D4F662-8C47-4F59-18B2-687B95CED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178E3A-380C-75CF-C11E-366224794A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5DBF7-DCB6-4A07-88E6-DF0FB7D434E2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70F543-E66B-EB3A-BE33-B6FD500BE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4E26C9-5D23-32A6-C106-A3E7CDD5F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484FF-007C-4A85-8E47-D0E32C60A4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2701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ectornav.com/resources/inertial-navigation-primer/math-fundamentals/math-attituderep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customXml" Target="../ink/ink8.xml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.xml"/><Relationship Id="rId5" Type="http://schemas.openxmlformats.org/officeDocument/2006/relationships/image" Target="../media/image4.png"/><Relationship Id="rId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4D93D1A-6A3F-D419-9E28-5C817C96D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592" y="2150814"/>
            <a:ext cx="3313832" cy="441744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D0DBC49-0902-BF01-0124-F6F81BD72880}"/>
              </a:ext>
            </a:extLst>
          </p:cNvPr>
          <p:cNvSpPr txBox="1"/>
          <p:nvPr/>
        </p:nvSpPr>
        <p:spPr>
          <a:xfrm>
            <a:off x="8568912" y="5917732"/>
            <a:ext cx="192328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dirty="0"/>
              <a:t>Port1, PD1, z-axis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9369663-993C-4A46-13B8-45DF85CB67D0}"/>
              </a:ext>
            </a:extLst>
          </p:cNvPr>
          <p:cNvSpPr txBox="1"/>
          <p:nvPr/>
        </p:nvSpPr>
        <p:spPr>
          <a:xfrm>
            <a:off x="9898782" y="2234403"/>
            <a:ext cx="192084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dirty="0"/>
              <a:t>Port2, PD2, x-axis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3BD027E-5F15-040D-003D-C8BACB9E79E2}"/>
              </a:ext>
            </a:extLst>
          </p:cNvPr>
          <p:cNvSpPr txBox="1"/>
          <p:nvPr/>
        </p:nvSpPr>
        <p:spPr>
          <a:xfrm>
            <a:off x="5633402" y="4034273"/>
            <a:ext cx="192648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dirty="0"/>
              <a:t>Port3, PD3, y-axis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6612A8-AB2B-0445-6DBF-811A099BF102}"/>
              </a:ext>
            </a:extLst>
          </p:cNvPr>
          <p:cNvSpPr txBox="1"/>
          <p:nvPr/>
        </p:nvSpPr>
        <p:spPr>
          <a:xfrm>
            <a:off x="282040" y="252879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PD1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DAC1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實際</a:t>
            </a:r>
            <a:r>
              <a:rPr lang="en-US" altLang="zh-TW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z</a:t>
            </a:r>
            <a:r>
              <a:rPr lang="zh-TW" altLang="en-US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(GUI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目前為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PD2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DAC3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實際</a:t>
            </a:r>
            <a:r>
              <a:rPr lang="en-US" altLang="zh-TW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(GUI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目前為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PD3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DAC2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實際</a:t>
            </a:r>
            <a:r>
              <a:rPr lang="en-US" altLang="zh-TW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(GUI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目前為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8C344D3-15E6-BC24-A6C2-0FB171BA5B70}"/>
              </a:ext>
            </a:extLst>
          </p:cNvPr>
          <p:cNvCxnSpPr>
            <a:cxnSpLocks/>
          </p:cNvCxnSpPr>
          <p:nvPr/>
        </p:nvCxnSpPr>
        <p:spPr>
          <a:xfrm>
            <a:off x="10332963" y="613127"/>
            <a:ext cx="1199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ADE9529-0980-FBA7-2F07-9A54DA70CA8C}"/>
              </a:ext>
            </a:extLst>
          </p:cNvPr>
          <p:cNvCxnSpPr>
            <a:cxnSpLocks/>
          </p:cNvCxnSpPr>
          <p:nvPr/>
        </p:nvCxnSpPr>
        <p:spPr>
          <a:xfrm>
            <a:off x="10332963" y="613127"/>
            <a:ext cx="0" cy="974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橢圓 14">
            <a:extLst>
              <a:ext uri="{FF2B5EF4-FFF2-40B4-BE49-F238E27FC236}">
                <a16:creationId xmlns:a16="http://schemas.microsoft.com/office/drawing/2014/main" id="{FA1924A5-9390-A6DC-4D8B-6426255B0A54}"/>
              </a:ext>
            </a:extLst>
          </p:cNvPr>
          <p:cNvSpPr/>
          <p:nvPr/>
        </p:nvSpPr>
        <p:spPr>
          <a:xfrm>
            <a:off x="10237960" y="506248"/>
            <a:ext cx="213755" cy="2137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743F2AC-E894-89A9-9915-15058E568FE2}"/>
              </a:ext>
            </a:extLst>
          </p:cNvPr>
          <p:cNvSpPr txBox="1"/>
          <p:nvPr/>
        </p:nvSpPr>
        <p:spPr>
          <a:xfrm>
            <a:off x="10190135" y="83477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z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9D83B0C-61A7-2F06-5BDB-515E8E318728}"/>
              </a:ext>
            </a:extLst>
          </p:cNvPr>
          <p:cNvSpPr txBox="1"/>
          <p:nvPr/>
        </p:nvSpPr>
        <p:spPr>
          <a:xfrm>
            <a:off x="10190135" y="1587733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038A090-E923-20AE-0EDE-52790F551B1E}"/>
              </a:ext>
            </a:extLst>
          </p:cNvPr>
          <p:cNvSpPr txBox="1"/>
          <p:nvPr/>
        </p:nvSpPr>
        <p:spPr>
          <a:xfrm>
            <a:off x="11532371" y="428459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</a:t>
            </a:r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1163506-5D90-D1A4-3802-24BF1F7D924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1733137" y="2926836"/>
            <a:ext cx="3644954" cy="3711615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8268CF1-FE12-0520-B1B9-566828A52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299922"/>
              </p:ext>
            </p:extLst>
          </p:nvPr>
        </p:nvGraphicFramePr>
        <p:xfrm>
          <a:off x="1576402" y="1638200"/>
          <a:ext cx="177387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1246601127"/>
                    </a:ext>
                  </a:extLst>
                </a:gridCol>
                <a:gridCol w="1133793">
                  <a:extLst>
                    <a:ext uri="{9D8B030D-6E8A-4147-A177-3AD203B41FA5}">
                      <a16:colId xmlns:a16="http://schemas.microsoft.com/office/drawing/2014/main" val="3698375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PD1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ADC_1_1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53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PD2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ADC_2_2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1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PD3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ADC_2_1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03504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8B33BE9-B350-0FE8-D45B-8469FC031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587140"/>
              </p:ext>
            </p:extLst>
          </p:nvPr>
        </p:nvGraphicFramePr>
        <p:xfrm>
          <a:off x="3602742" y="1616410"/>
          <a:ext cx="1917510" cy="1156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861">
                  <a:extLst>
                    <a:ext uri="{9D8B030D-6E8A-4147-A177-3AD203B41FA5}">
                      <a16:colId xmlns:a16="http://schemas.microsoft.com/office/drawing/2014/main" val="1246601127"/>
                    </a:ext>
                  </a:extLst>
                </a:gridCol>
                <a:gridCol w="1124649">
                  <a:extLst>
                    <a:ext uri="{9D8B030D-6E8A-4147-A177-3AD203B41FA5}">
                      <a16:colId xmlns:a16="http://schemas.microsoft.com/office/drawing/2014/main" val="3698375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DAC1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DAC_1_1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53684"/>
                  </a:ext>
                </a:extLst>
              </a:tr>
              <a:tr h="414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DAC3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DAC_2_2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1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DAC2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DAC_2_1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035046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73DABA2E-C440-2B90-279A-FB85B178020D}"/>
              </a:ext>
            </a:extLst>
          </p:cNvPr>
          <p:cNvSpPr txBox="1"/>
          <p:nvPr/>
        </p:nvSpPr>
        <p:spPr>
          <a:xfrm>
            <a:off x="1431973" y="1268868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電路安排</a:t>
            </a:r>
          </a:p>
        </p:txBody>
      </p:sp>
    </p:spTree>
    <p:extLst>
      <p:ext uri="{BB962C8B-B14F-4D97-AF65-F5344CB8AC3E}">
        <p14:creationId xmlns:p14="http://schemas.microsoft.com/office/powerpoint/2010/main" val="418793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39E6A1A-25A9-928B-7A76-C70B0AF34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2111" y="1825625"/>
            <a:ext cx="4367778" cy="435133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4A53D33-6872-0553-6F99-96632EA0BE71}"/>
              </a:ext>
            </a:extLst>
          </p:cNvPr>
          <p:cNvSpPr txBox="1"/>
          <p:nvPr/>
        </p:nvSpPr>
        <p:spPr>
          <a:xfrm>
            <a:off x="9815804" y="378822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B9242C9-501D-8CA5-94DB-A153508D4CBB}"/>
              </a:ext>
            </a:extLst>
          </p:cNvPr>
          <p:cNvSpPr txBox="1"/>
          <p:nvPr/>
        </p:nvSpPr>
        <p:spPr>
          <a:xfrm>
            <a:off x="5783094" y="101703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</a:t>
            </a:r>
            <a:endParaRPr lang="zh-TW" altLang="en-US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1FD00D63-0C77-6E4F-5A46-37082A49883A}"/>
              </a:ext>
            </a:extLst>
          </p:cNvPr>
          <p:cNvCxnSpPr/>
          <p:nvPr/>
        </p:nvCxnSpPr>
        <p:spPr>
          <a:xfrm flipV="1">
            <a:off x="6680718" y="4001294"/>
            <a:ext cx="2985796" cy="66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7510A0E-876C-C7D9-7302-9982D20FBD79}"/>
              </a:ext>
            </a:extLst>
          </p:cNvPr>
          <p:cNvCxnSpPr/>
          <p:nvPr/>
        </p:nvCxnSpPr>
        <p:spPr>
          <a:xfrm flipV="1">
            <a:off x="6096000" y="1386369"/>
            <a:ext cx="0" cy="2681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925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C43F11B-CEF3-C9E9-328F-E1DB088A9F0E}"/>
              </a:ext>
            </a:extLst>
          </p:cNvPr>
          <p:cNvSpPr txBox="1"/>
          <p:nvPr/>
        </p:nvSpPr>
        <p:spPr>
          <a:xfrm>
            <a:off x="2365513" y="55659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硬體軸向已固定，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28388B3-DFF0-163B-F69B-5C46C076CA3B}"/>
              </a:ext>
            </a:extLst>
          </p:cNvPr>
          <p:cNvGrpSpPr/>
          <p:nvPr/>
        </p:nvGrpSpPr>
        <p:grpSpPr>
          <a:xfrm>
            <a:off x="898264" y="1868557"/>
            <a:ext cx="2246244" cy="2386975"/>
            <a:chOff x="938020" y="1977887"/>
            <a:chExt cx="2246244" cy="238697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165CC19-4358-0E27-9ED5-5A0167D1A805}"/>
                </a:ext>
              </a:extLst>
            </p:cNvPr>
            <p:cNvSpPr/>
            <p:nvPr/>
          </p:nvSpPr>
          <p:spPr>
            <a:xfrm>
              <a:off x="938020" y="1977887"/>
              <a:ext cx="2246244" cy="145111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IRIS Coil or MEMS</a:t>
              </a:r>
              <a:r>
                <a:rPr lang="zh-TW" altLang="en-US" dirty="0">
                  <a:solidFill>
                    <a:sysClr val="windowText" lastClr="000000"/>
                  </a:solidFill>
                </a:rPr>
                <a:t> </a:t>
              </a:r>
              <a:r>
                <a:rPr lang="en-US" altLang="zh-TW" dirty="0">
                  <a:solidFill>
                    <a:sysClr val="windowText" lastClr="000000"/>
                  </a:solidFill>
                </a:rPr>
                <a:t>IMU</a:t>
              </a:r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FBEF22CE-B1B2-12A5-90A6-0036D56418DB}"/>
                </a:ext>
              </a:extLst>
            </p:cNvPr>
            <p:cNvGrpSpPr/>
            <p:nvPr/>
          </p:nvGrpSpPr>
          <p:grpSpPr>
            <a:xfrm>
              <a:off x="1933162" y="3031434"/>
              <a:ext cx="1177786" cy="1333428"/>
              <a:chOff x="3642692" y="3329608"/>
              <a:chExt cx="1177786" cy="1333428"/>
            </a:xfrm>
          </p:grpSpPr>
          <p:cxnSp>
            <p:nvCxnSpPr>
              <p:cNvPr id="5" name="直線單箭頭接點 4">
                <a:extLst>
                  <a:ext uri="{FF2B5EF4-FFF2-40B4-BE49-F238E27FC236}">
                    <a16:creationId xmlns:a16="http://schemas.microsoft.com/office/drawing/2014/main" id="{C859C356-C4AF-C9ED-038A-4409526D13C9}"/>
                  </a:ext>
                </a:extLst>
              </p:cNvPr>
              <p:cNvCxnSpPr/>
              <p:nvPr/>
            </p:nvCxnSpPr>
            <p:spPr>
              <a:xfrm>
                <a:off x="3756992" y="3448878"/>
                <a:ext cx="0" cy="8448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單箭頭接點 6">
                <a:extLst>
                  <a:ext uri="{FF2B5EF4-FFF2-40B4-BE49-F238E27FC236}">
                    <a16:creationId xmlns:a16="http://schemas.microsoft.com/office/drawing/2014/main" id="{7112422B-BA43-A555-B88C-4000EAD3A1A0}"/>
                  </a:ext>
                </a:extLst>
              </p:cNvPr>
              <p:cNvCxnSpPr/>
              <p:nvPr/>
            </p:nvCxnSpPr>
            <p:spPr>
              <a:xfrm>
                <a:off x="3756992" y="3438939"/>
                <a:ext cx="94421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D2E84E3-554F-88E5-EB9F-6DD8B1461A7A}"/>
                  </a:ext>
                </a:extLst>
              </p:cNvPr>
              <p:cNvSpPr txBox="1"/>
              <p:nvPr/>
            </p:nvSpPr>
            <p:spPr>
              <a:xfrm>
                <a:off x="3756992" y="4293704"/>
                <a:ext cx="423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ysClr val="windowText" lastClr="000000"/>
                    </a:solidFill>
                  </a:rPr>
                  <a:t>X</a:t>
                </a:r>
                <a:endParaRPr lang="zh-TW" altLang="en-US" dirty="0"/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BC0C856-9972-419B-67B8-87F81AE0C61B}"/>
                  </a:ext>
                </a:extLst>
              </p:cNvPr>
              <p:cNvSpPr txBox="1"/>
              <p:nvPr/>
            </p:nvSpPr>
            <p:spPr>
              <a:xfrm>
                <a:off x="4396838" y="3458817"/>
                <a:ext cx="423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ysClr val="windowText" lastClr="000000"/>
                    </a:solidFill>
                  </a:rPr>
                  <a:t>Y</a:t>
                </a:r>
                <a:endParaRPr lang="zh-TW" altLang="en-US" dirty="0"/>
              </a:p>
            </p:txBody>
          </p:sp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BBBD604D-C459-E7E5-6268-BEE9977F3987}"/>
                  </a:ext>
                </a:extLst>
              </p:cNvPr>
              <p:cNvGrpSpPr/>
              <p:nvPr/>
            </p:nvGrpSpPr>
            <p:grpSpPr>
              <a:xfrm>
                <a:off x="3642692" y="3329608"/>
                <a:ext cx="228600" cy="198783"/>
                <a:chOff x="6370983" y="2832652"/>
                <a:chExt cx="228600" cy="198783"/>
              </a:xfrm>
            </p:grpSpPr>
            <p:sp>
              <p:nvSpPr>
                <p:cNvPr id="11" name="橢圓 10">
                  <a:extLst>
                    <a:ext uri="{FF2B5EF4-FFF2-40B4-BE49-F238E27FC236}">
                      <a16:creationId xmlns:a16="http://schemas.microsoft.com/office/drawing/2014/main" id="{F0288768-4DDB-8F4D-3627-D1871A8475F2}"/>
                    </a:ext>
                  </a:extLst>
                </p:cNvPr>
                <p:cNvSpPr/>
                <p:nvPr/>
              </p:nvSpPr>
              <p:spPr>
                <a:xfrm>
                  <a:off x="6370983" y="2832652"/>
                  <a:ext cx="228600" cy="198783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2">
                  <p14:nvContentPartPr>
                    <p14:cNvPr id="12" name="筆跡 11">
                      <a:extLst>
                        <a:ext uri="{FF2B5EF4-FFF2-40B4-BE49-F238E27FC236}">
                          <a16:creationId xmlns:a16="http://schemas.microsoft.com/office/drawing/2014/main" id="{3BED5419-6FF8-0FA6-5052-56E60961F05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480282" y="2931965"/>
                    <a:ext cx="360" cy="360"/>
                  </p14:xfrm>
                </p:contentPart>
              </mc:Choice>
              <mc:Fallback xmlns="">
                <p:pic>
                  <p:nvPicPr>
                    <p:cNvPr id="12" name="筆跡 11">
                      <a:extLst>
                        <a:ext uri="{FF2B5EF4-FFF2-40B4-BE49-F238E27FC236}">
                          <a16:creationId xmlns:a16="http://schemas.microsoft.com/office/drawing/2014/main" id="{3BED5419-6FF8-0FA6-5052-56E60961F058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6474162" y="2925845"/>
                      <a:ext cx="12600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13" name="筆跡 12">
                      <a:extLst>
                        <a:ext uri="{FF2B5EF4-FFF2-40B4-BE49-F238E27FC236}">
                          <a16:creationId xmlns:a16="http://schemas.microsoft.com/office/drawing/2014/main" id="{E56CF369-FF6F-E4FD-BC05-861A52BF0E8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472722" y="2922245"/>
                    <a:ext cx="17640" cy="2520"/>
                  </p14:xfrm>
                </p:contentPart>
              </mc:Choice>
              <mc:Fallback xmlns="">
                <p:pic>
                  <p:nvPicPr>
                    <p:cNvPr id="13" name="筆跡 12">
                      <a:extLst>
                        <a:ext uri="{FF2B5EF4-FFF2-40B4-BE49-F238E27FC236}">
                          <a16:creationId xmlns:a16="http://schemas.microsoft.com/office/drawing/2014/main" id="{E56CF369-FF6F-E4FD-BC05-861A52BF0E89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6466602" y="2916125"/>
                      <a:ext cx="29880" cy="1476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</p:grp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47D6697-CF6C-950E-071F-D9B3153D03B5}"/>
              </a:ext>
            </a:extLst>
          </p:cNvPr>
          <p:cNvSpPr txBox="1"/>
          <p:nvPr/>
        </p:nvSpPr>
        <p:spPr>
          <a:xfrm>
            <a:off x="1073020" y="4581331"/>
            <a:ext cx="26212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Sensor Frame</a:t>
            </a:r>
          </a:p>
          <a:p>
            <a:r>
              <a:rPr lang="en-US" altLang="zh-TW" dirty="0"/>
              <a:t>IRIS:</a:t>
            </a:r>
            <a:r>
              <a:rPr lang="zh-TW" altLang="en-US" dirty="0"/>
              <a:t> 由</a:t>
            </a:r>
            <a:r>
              <a:rPr lang="en-US" altLang="zh-TW" dirty="0"/>
              <a:t>coil</a:t>
            </a:r>
            <a:r>
              <a:rPr lang="zh-TW" altLang="en-US" dirty="0"/>
              <a:t>方向決定</a:t>
            </a:r>
            <a:endParaRPr lang="en-US" altLang="zh-TW" dirty="0"/>
          </a:p>
          <a:p>
            <a:r>
              <a:rPr lang="en-US" altLang="zh-TW" dirty="0"/>
              <a:t>HARS:</a:t>
            </a:r>
            <a:r>
              <a:rPr lang="zh-TW" altLang="en-US" dirty="0"/>
              <a:t> 由</a:t>
            </a:r>
            <a:r>
              <a:rPr lang="en-US" altLang="zh-TW" dirty="0"/>
              <a:t>PCB</a:t>
            </a:r>
            <a:r>
              <a:rPr lang="zh-TW" altLang="en-US" dirty="0"/>
              <a:t>上</a:t>
            </a:r>
            <a:r>
              <a:rPr lang="en-US" altLang="zh-TW" dirty="0"/>
              <a:t>IMU</a:t>
            </a:r>
            <a:r>
              <a:rPr lang="zh-TW" altLang="en-US" dirty="0"/>
              <a:t>決定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144707B-3A2F-9CFD-C4C1-4AB576545449}"/>
              </a:ext>
            </a:extLst>
          </p:cNvPr>
          <p:cNvSpPr txBox="1"/>
          <p:nvPr/>
        </p:nvSpPr>
        <p:spPr>
          <a:xfrm>
            <a:off x="9035554" y="5647226"/>
            <a:ext cx="14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Case Frame</a:t>
            </a: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E2C3EA25-725C-B6C4-8B5F-7549E30E4B9B}"/>
              </a:ext>
            </a:extLst>
          </p:cNvPr>
          <p:cNvGrpSpPr/>
          <p:nvPr/>
        </p:nvGrpSpPr>
        <p:grpSpPr>
          <a:xfrm>
            <a:off x="8776906" y="1811012"/>
            <a:ext cx="1726741" cy="1424967"/>
            <a:chOff x="9438743" y="1647502"/>
            <a:chExt cx="1726741" cy="142496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BC4350D-DC4D-44D0-B69C-CC3D4BA0ACC2}"/>
                </a:ext>
              </a:extLst>
            </p:cNvPr>
            <p:cNvSpPr/>
            <p:nvPr/>
          </p:nvSpPr>
          <p:spPr>
            <a:xfrm>
              <a:off x="9438743" y="1647502"/>
              <a:ext cx="1726741" cy="11431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IRIS</a:t>
              </a:r>
            </a:p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HARS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E5CE743-CBF4-1B92-9EBE-56456B99C887}"/>
                </a:ext>
              </a:extLst>
            </p:cNvPr>
            <p:cNvSpPr/>
            <p:nvPr/>
          </p:nvSpPr>
          <p:spPr>
            <a:xfrm>
              <a:off x="10028084" y="2790642"/>
              <a:ext cx="541020" cy="1987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B3455943-2AE5-774D-AFC5-8149598357A7}"/>
                </a:ext>
              </a:extLst>
            </p:cNvPr>
            <p:cNvSpPr txBox="1"/>
            <p:nvPr/>
          </p:nvSpPr>
          <p:spPr>
            <a:xfrm>
              <a:off x="10569104" y="2795470"/>
              <a:ext cx="5565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Conn.</a:t>
              </a:r>
              <a:endPara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4ABB026C-8E3C-CD4C-2492-D25D608343C5}"/>
              </a:ext>
            </a:extLst>
          </p:cNvPr>
          <p:cNvGrpSpPr/>
          <p:nvPr/>
        </p:nvGrpSpPr>
        <p:grpSpPr>
          <a:xfrm>
            <a:off x="9909706" y="1523279"/>
            <a:ext cx="1438571" cy="1398825"/>
            <a:chOff x="5299136" y="1470483"/>
            <a:chExt cx="1438571" cy="1398825"/>
          </a:xfrm>
        </p:grpSpPr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B5A754BA-C0BC-701F-E501-BB52324F5BB4}"/>
                </a:ext>
              </a:extLst>
            </p:cNvPr>
            <p:cNvCxnSpPr/>
            <p:nvPr/>
          </p:nvCxnSpPr>
          <p:spPr>
            <a:xfrm rot="10800000">
              <a:off x="5460324" y="1839815"/>
              <a:ext cx="0" cy="8448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C0FCD9B2-8F42-E9D0-0C73-6B2DBEAED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0325" y="2690660"/>
              <a:ext cx="1000764" cy="39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5E80012A-E49D-B1AF-8B3F-751ED192C11E}"/>
                </a:ext>
              </a:extLst>
            </p:cNvPr>
            <p:cNvSpPr txBox="1"/>
            <p:nvPr/>
          </p:nvSpPr>
          <p:spPr>
            <a:xfrm>
              <a:off x="5299136" y="1470483"/>
              <a:ext cx="423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solidFill>
                    <a:sysClr val="windowText" lastClr="000000"/>
                  </a:solidFill>
                </a:rPr>
                <a:t>Y</a:t>
              </a:r>
              <a:endParaRPr lang="zh-TW" altLang="en-US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8130B89-A597-F788-30BE-F4505FB581A0}"/>
                </a:ext>
              </a:extLst>
            </p:cNvPr>
            <p:cNvSpPr txBox="1"/>
            <p:nvPr/>
          </p:nvSpPr>
          <p:spPr>
            <a:xfrm rot="10800000">
              <a:off x="6314067" y="2499976"/>
              <a:ext cx="423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solidFill>
                    <a:sysClr val="windowText" lastClr="000000"/>
                  </a:solidFill>
                </a:rPr>
                <a:t>X</a:t>
              </a:r>
              <a:endParaRPr lang="zh-TW" altLang="en-US" dirty="0"/>
            </a:p>
          </p:txBody>
        </p: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5FD034C7-BFE8-D651-7BDF-A00504CC8CC6}"/>
                </a:ext>
              </a:extLst>
            </p:cNvPr>
            <p:cNvGrpSpPr/>
            <p:nvPr/>
          </p:nvGrpSpPr>
          <p:grpSpPr>
            <a:xfrm rot="10800000">
              <a:off x="5346024" y="2605128"/>
              <a:ext cx="228600" cy="198783"/>
              <a:chOff x="6370983" y="2832652"/>
              <a:chExt cx="228600" cy="198783"/>
            </a:xfrm>
          </p:grpSpPr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E852A0F6-D57F-776B-E9C3-46FDA715E7D6}"/>
                  </a:ext>
                </a:extLst>
              </p:cNvPr>
              <p:cNvSpPr/>
              <p:nvPr/>
            </p:nvSpPr>
            <p:spPr>
              <a:xfrm>
                <a:off x="6370983" y="2832652"/>
                <a:ext cx="228600" cy="198783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26" name="筆跡 25">
                    <a:extLst>
                      <a:ext uri="{FF2B5EF4-FFF2-40B4-BE49-F238E27FC236}">
                        <a16:creationId xmlns:a16="http://schemas.microsoft.com/office/drawing/2014/main" id="{DDBAA707-401A-A2E8-7274-18BAA5CA2BDE}"/>
                      </a:ext>
                    </a:extLst>
                  </p14:cNvPr>
                  <p14:cNvContentPartPr/>
                  <p14:nvPr/>
                </p14:nvContentPartPr>
                <p14:xfrm>
                  <a:off x="6480282" y="2931965"/>
                  <a:ext cx="360" cy="360"/>
                </p14:xfrm>
              </p:contentPart>
            </mc:Choice>
            <mc:Fallback xmlns="">
              <p:pic>
                <p:nvPicPr>
                  <p:cNvPr id="26" name="筆跡 25">
                    <a:extLst>
                      <a:ext uri="{FF2B5EF4-FFF2-40B4-BE49-F238E27FC236}">
                        <a16:creationId xmlns:a16="http://schemas.microsoft.com/office/drawing/2014/main" id="{DDBAA707-401A-A2E8-7274-18BAA5CA2BDE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474162" y="2925845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27" name="筆跡 26">
                    <a:extLst>
                      <a:ext uri="{FF2B5EF4-FFF2-40B4-BE49-F238E27FC236}">
                        <a16:creationId xmlns:a16="http://schemas.microsoft.com/office/drawing/2014/main" id="{3A7AB134-3191-CE1B-5930-6EA89671502D}"/>
                      </a:ext>
                    </a:extLst>
                  </p14:cNvPr>
                  <p14:cNvContentPartPr/>
                  <p14:nvPr/>
                </p14:nvContentPartPr>
                <p14:xfrm>
                  <a:off x="6472722" y="2922245"/>
                  <a:ext cx="17640" cy="2520"/>
                </p14:xfrm>
              </p:contentPart>
            </mc:Choice>
            <mc:Fallback xmlns="">
              <p:pic>
                <p:nvPicPr>
                  <p:cNvPr id="27" name="筆跡 26">
                    <a:extLst>
                      <a:ext uri="{FF2B5EF4-FFF2-40B4-BE49-F238E27FC236}">
                        <a16:creationId xmlns:a16="http://schemas.microsoft.com/office/drawing/2014/main" id="{3A7AB134-3191-CE1B-5930-6EA89671502D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466602" y="2916125"/>
                    <a:ext cx="29880" cy="147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CD74E182-DE00-485C-6E0B-C380D96D9884}"/>
              </a:ext>
            </a:extLst>
          </p:cNvPr>
          <p:cNvGrpSpPr/>
          <p:nvPr/>
        </p:nvGrpSpPr>
        <p:grpSpPr>
          <a:xfrm>
            <a:off x="8776906" y="3854548"/>
            <a:ext cx="1726741" cy="1424967"/>
            <a:chOff x="9438743" y="1647502"/>
            <a:chExt cx="1726741" cy="1424967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7CDFE11-55B5-B367-1B33-98B602CB353E}"/>
                </a:ext>
              </a:extLst>
            </p:cNvPr>
            <p:cNvSpPr/>
            <p:nvPr/>
          </p:nvSpPr>
          <p:spPr>
            <a:xfrm>
              <a:off x="9438743" y="1647502"/>
              <a:ext cx="1726741" cy="11431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MINS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FF2650C6-B016-EA58-6A89-47C23F1CC504}"/>
                </a:ext>
              </a:extLst>
            </p:cNvPr>
            <p:cNvSpPr/>
            <p:nvPr/>
          </p:nvSpPr>
          <p:spPr>
            <a:xfrm>
              <a:off x="10028084" y="2790642"/>
              <a:ext cx="541020" cy="1987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28EEEAC8-788B-AEC4-6428-290467DEB07F}"/>
                </a:ext>
              </a:extLst>
            </p:cNvPr>
            <p:cNvSpPr txBox="1"/>
            <p:nvPr/>
          </p:nvSpPr>
          <p:spPr>
            <a:xfrm>
              <a:off x="10569104" y="2795470"/>
              <a:ext cx="5565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Conn.</a:t>
              </a:r>
              <a:endPara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BEAA357E-07DA-A55B-E286-F372CFA2E52F}"/>
              </a:ext>
            </a:extLst>
          </p:cNvPr>
          <p:cNvGrpSpPr/>
          <p:nvPr/>
        </p:nvGrpSpPr>
        <p:grpSpPr>
          <a:xfrm>
            <a:off x="9956594" y="3536366"/>
            <a:ext cx="1484291" cy="1398825"/>
            <a:chOff x="6196892" y="2552771"/>
            <a:chExt cx="1484291" cy="1398825"/>
          </a:xfrm>
        </p:grpSpPr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1125DADF-9816-5FA2-8D5E-F9943115213C}"/>
                </a:ext>
              </a:extLst>
            </p:cNvPr>
            <p:cNvCxnSpPr/>
            <p:nvPr/>
          </p:nvCxnSpPr>
          <p:spPr>
            <a:xfrm rot="10800000">
              <a:off x="6358080" y="2922103"/>
              <a:ext cx="0" cy="8448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BA3731B4-1301-FF23-3471-7C2824FD70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081" y="3772948"/>
              <a:ext cx="1000764" cy="39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2E6B84CA-C8CF-50FE-F64A-684F96D99360}"/>
                </a:ext>
              </a:extLst>
            </p:cNvPr>
            <p:cNvSpPr txBox="1"/>
            <p:nvPr/>
          </p:nvSpPr>
          <p:spPr>
            <a:xfrm>
              <a:off x="6196892" y="2552771"/>
              <a:ext cx="423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solidFill>
                    <a:sysClr val="windowText" lastClr="000000"/>
                  </a:solidFill>
                </a:rPr>
                <a:t>X</a:t>
              </a:r>
              <a:endParaRPr lang="zh-TW" altLang="en-US" dirty="0"/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07CC8CB4-C884-7818-E331-D908A1E46C35}"/>
                </a:ext>
              </a:extLst>
            </p:cNvPr>
            <p:cNvSpPr txBox="1"/>
            <p:nvPr/>
          </p:nvSpPr>
          <p:spPr>
            <a:xfrm>
              <a:off x="7257543" y="3582264"/>
              <a:ext cx="423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solidFill>
                    <a:sysClr val="windowText" lastClr="000000"/>
                  </a:solidFill>
                </a:rPr>
                <a:t>Y</a:t>
              </a:r>
              <a:endParaRPr lang="zh-TW" altLang="en-US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0D154EB-0FD2-38C6-53FB-9508B2C90D0C}"/>
                </a:ext>
              </a:extLst>
            </p:cNvPr>
            <p:cNvSpPr/>
            <p:nvPr/>
          </p:nvSpPr>
          <p:spPr>
            <a:xfrm rot="10800000">
              <a:off x="6243780" y="3687416"/>
              <a:ext cx="228600" cy="19878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B41386BC-B622-C7B6-B39C-30F5A16237E8}"/>
                </a:ext>
              </a:extLst>
            </p:cNvPr>
            <p:cNvCxnSpPr>
              <a:stCxn id="45" idx="5"/>
              <a:endCxn id="45" idx="1"/>
            </p:cNvCxnSpPr>
            <p:nvPr/>
          </p:nvCxnSpPr>
          <p:spPr>
            <a:xfrm>
              <a:off x="6277258" y="3716527"/>
              <a:ext cx="161644" cy="14056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8BD78AD6-8340-34AE-A0FD-DD61A690EAF0}"/>
                </a:ext>
              </a:extLst>
            </p:cNvPr>
            <p:cNvCxnSpPr>
              <a:stCxn id="45" idx="3"/>
              <a:endCxn id="45" idx="7"/>
            </p:cNvCxnSpPr>
            <p:nvPr/>
          </p:nvCxnSpPr>
          <p:spPr>
            <a:xfrm flipH="1">
              <a:off x="6277258" y="3716527"/>
              <a:ext cx="161644" cy="14056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348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0237F70-0D14-13C4-6D33-CBAA831FC494}"/>
              </a:ext>
            </a:extLst>
          </p:cNvPr>
          <p:cNvSpPr txBox="1"/>
          <p:nvPr/>
        </p:nvSpPr>
        <p:spPr>
          <a:xfrm>
            <a:off x="176919" y="172720"/>
            <a:ext cx="763978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在</a:t>
            </a:r>
            <a:r>
              <a:rPr lang="en-US" altLang="zh-TW" dirty="0"/>
              <a:t>MCU</a:t>
            </a:r>
            <a:r>
              <a:rPr lang="zh-TW" altLang="en-US" dirty="0"/>
              <a:t>端提供一個旋轉</a:t>
            </a:r>
            <a:r>
              <a:rPr lang="en-US" altLang="zh-TW" dirty="0"/>
              <a:t>Sensor frame </a:t>
            </a:r>
            <a:r>
              <a:rPr lang="zh-TW" altLang="en-US" dirty="0"/>
              <a:t>方法 </a:t>
            </a:r>
            <a:endParaRPr lang="en-US" altLang="zh-TW" dirty="0"/>
          </a:p>
          <a:p>
            <a:r>
              <a:rPr lang="en-US" altLang="zh-TW" dirty="0" err="1"/>
              <a:t>rotate_sensorFrame</a:t>
            </a:r>
            <a:r>
              <a:rPr lang="en-US" altLang="zh-TW" dirty="0"/>
              <a:t>(</a:t>
            </a:r>
            <a:r>
              <a:rPr lang="en-US" altLang="zh-TW" dirty="0" err="1"/>
              <a:t>g_s</a:t>
            </a:r>
            <a:r>
              <a:rPr lang="en-US" altLang="zh-TW" dirty="0"/>
              <a:t>, </a:t>
            </a:r>
            <a:r>
              <a:rPr lang="en-US" altLang="zh-TW" dirty="0" err="1"/>
              <a:t>a_s</a:t>
            </a:r>
            <a:r>
              <a:rPr lang="en-US" altLang="zh-TW" dirty="0"/>
              <a:t>, </a:t>
            </a:r>
            <a:r>
              <a:rPr lang="en-US" altLang="zh-TW" dirty="0" err="1"/>
              <a:t>g_c</a:t>
            </a:r>
            <a:r>
              <a:rPr lang="en-US" altLang="zh-TW" dirty="0"/>
              <a:t>, </a:t>
            </a:r>
            <a:r>
              <a:rPr lang="en-US" altLang="zh-TW" dirty="0" err="1"/>
              <a:t>a_c</a:t>
            </a:r>
            <a:r>
              <a:rPr lang="en-US" altLang="zh-TW" dirty="0"/>
              <a:t>):</a:t>
            </a:r>
          </a:p>
          <a:p>
            <a:r>
              <a:rPr lang="en-US" altLang="zh-TW" dirty="0"/>
              <a:t> </a:t>
            </a:r>
            <a:r>
              <a:rPr lang="en-US" altLang="zh-TW" dirty="0" err="1"/>
              <a:t>g_s</a:t>
            </a:r>
            <a:r>
              <a:rPr lang="en-US" altLang="zh-TW" dirty="0"/>
              <a:t>: sensor frame 3 </a:t>
            </a:r>
            <a:r>
              <a:rPr lang="zh-TW" altLang="en-US" dirty="0"/>
              <a:t>軸 </a:t>
            </a:r>
            <a:r>
              <a:rPr lang="en-US" altLang="zh-TW" dirty="0"/>
              <a:t>gyro </a:t>
            </a:r>
            <a:r>
              <a:rPr lang="zh-TW" altLang="en-US" dirty="0"/>
              <a:t>數據 </a:t>
            </a:r>
            <a:r>
              <a:rPr lang="en-US" altLang="zh-TW" dirty="0"/>
              <a:t>[</a:t>
            </a:r>
            <a:r>
              <a:rPr lang="en-US" altLang="zh-TW" dirty="0" err="1"/>
              <a:t>g_sx</a:t>
            </a:r>
            <a:r>
              <a:rPr lang="en-US" altLang="zh-TW" dirty="0"/>
              <a:t>, </a:t>
            </a:r>
            <a:r>
              <a:rPr lang="en-US" altLang="zh-TW" dirty="0" err="1"/>
              <a:t>g_sy</a:t>
            </a:r>
            <a:r>
              <a:rPr lang="en-US" altLang="zh-TW" dirty="0"/>
              <a:t>, </a:t>
            </a:r>
            <a:r>
              <a:rPr lang="en-US" altLang="zh-TW" dirty="0" err="1"/>
              <a:t>g_sz</a:t>
            </a:r>
            <a:r>
              <a:rPr lang="en-US" altLang="zh-TW" dirty="0"/>
              <a:t>]</a:t>
            </a:r>
          </a:p>
          <a:p>
            <a:r>
              <a:rPr lang="en-US" altLang="zh-TW" dirty="0"/>
              <a:t> </a:t>
            </a:r>
            <a:r>
              <a:rPr lang="en-US" altLang="zh-TW" dirty="0" err="1"/>
              <a:t>a_s</a:t>
            </a:r>
            <a:r>
              <a:rPr lang="en-US" altLang="zh-TW" dirty="0"/>
              <a:t>: sensor frame 3 </a:t>
            </a:r>
            <a:r>
              <a:rPr lang="zh-TW" altLang="en-US" dirty="0"/>
              <a:t>軸 </a:t>
            </a:r>
            <a:r>
              <a:rPr lang="en-US" altLang="zh-TW" dirty="0" err="1"/>
              <a:t>accl</a:t>
            </a:r>
            <a:r>
              <a:rPr lang="en-US" altLang="zh-TW" dirty="0"/>
              <a:t> </a:t>
            </a:r>
            <a:r>
              <a:rPr lang="zh-TW" altLang="en-US" dirty="0"/>
              <a:t>數據 </a:t>
            </a:r>
            <a:r>
              <a:rPr lang="en-US" altLang="zh-TW" dirty="0"/>
              <a:t>[</a:t>
            </a:r>
            <a:r>
              <a:rPr lang="en-US" altLang="zh-TW" dirty="0" err="1"/>
              <a:t>a_sx</a:t>
            </a:r>
            <a:r>
              <a:rPr lang="en-US" altLang="zh-TW" dirty="0"/>
              <a:t>, </a:t>
            </a:r>
            <a:r>
              <a:rPr lang="en-US" altLang="zh-TW" dirty="0" err="1"/>
              <a:t>a_sy</a:t>
            </a:r>
            <a:r>
              <a:rPr lang="en-US" altLang="zh-TW" dirty="0"/>
              <a:t>, </a:t>
            </a:r>
            <a:r>
              <a:rPr lang="en-US" altLang="zh-TW" dirty="0" err="1"/>
              <a:t>a_sz</a:t>
            </a:r>
            <a:r>
              <a:rPr lang="en-US" altLang="zh-TW" dirty="0"/>
              <a:t>]</a:t>
            </a:r>
          </a:p>
          <a:p>
            <a:r>
              <a:rPr lang="en-US" altLang="zh-TW" dirty="0"/>
              <a:t> </a:t>
            </a:r>
            <a:r>
              <a:rPr lang="en-US" altLang="zh-TW" dirty="0" err="1"/>
              <a:t>g_c</a:t>
            </a:r>
            <a:r>
              <a:rPr lang="en-US" altLang="zh-TW" dirty="0"/>
              <a:t>: case frame 3 </a:t>
            </a:r>
            <a:r>
              <a:rPr lang="zh-TW" altLang="en-US" dirty="0"/>
              <a:t>軸 </a:t>
            </a:r>
            <a:r>
              <a:rPr lang="en-US" altLang="zh-TW" dirty="0"/>
              <a:t>gyro </a:t>
            </a:r>
            <a:r>
              <a:rPr lang="zh-TW" altLang="en-US" dirty="0"/>
              <a:t>數據 </a:t>
            </a:r>
            <a:r>
              <a:rPr lang="en-US" altLang="zh-TW" dirty="0"/>
              <a:t>[</a:t>
            </a:r>
            <a:r>
              <a:rPr lang="en-US" altLang="zh-TW" dirty="0" err="1"/>
              <a:t>g_cx</a:t>
            </a:r>
            <a:r>
              <a:rPr lang="en-US" altLang="zh-TW" dirty="0"/>
              <a:t>, </a:t>
            </a:r>
            <a:r>
              <a:rPr lang="en-US" altLang="zh-TW" dirty="0" err="1"/>
              <a:t>g_cy</a:t>
            </a:r>
            <a:r>
              <a:rPr lang="en-US" altLang="zh-TW" dirty="0"/>
              <a:t>, </a:t>
            </a:r>
            <a:r>
              <a:rPr lang="en-US" altLang="zh-TW" dirty="0" err="1"/>
              <a:t>g_cz</a:t>
            </a:r>
            <a:r>
              <a:rPr lang="en-US" altLang="zh-TW" dirty="0"/>
              <a:t>]</a:t>
            </a:r>
          </a:p>
          <a:p>
            <a:r>
              <a:rPr lang="en-US" altLang="zh-TW" dirty="0"/>
              <a:t> </a:t>
            </a:r>
            <a:r>
              <a:rPr lang="en-US" altLang="zh-TW" dirty="0" err="1"/>
              <a:t>a_c</a:t>
            </a:r>
            <a:r>
              <a:rPr lang="en-US" altLang="zh-TW" dirty="0"/>
              <a:t>: case frame 3 </a:t>
            </a:r>
            <a:r>
              <a:rPr lang="zh-TW" altLang="en-US" dirty="0"/>
              <a:t>軸 </a:t>
            </a:r>
            <a:r>
              <a:rPr lang="en-US" altLang="zh-TW" dirty="0" err="1"/>
              <a:t>accl</a:t>
            </a:r>
            <a:r>
              <a:rPr lang="en-US" altLang="zh-TW" dirty="0"/>
              <a:t> </a:t>
            </a:r>
            <a:r>
              <a:rPr lang="zh-TW" altLang="en-US" dirty="0"/>
              <a:t>數據 </a:t>
            </a:r>
            <a:r>
              <a:rPr lang="en-US" altLang="zh-TW" dirty="0"/>
              <a:t>[</a:t>
            </a:r>
            <a:r>
              <a:rPr lang="en-US" altLang="zh-TW" dirty="0" err="1"/>
              <a:t>a_cx</a:t>
            </a:r>
            <a:r>
              <a:rPr lang="en-US" altLang="zh-TW" dirty="0"/>
              <a:t>, </a:t>
            </a:r>
            <a:r>
              <a:rPr lang="en-US" altLang="zh-TW" dirty="0" err="1"/>
              <a:t>a_cy</a:t>
            </a:r>
            <a:r>
              <a:rPr lang="en-US" altLang="zh-TW" dirty="0"/>
              <a:t>, </a:t>
            </a:r>
            <a:r>
              <a:rPr lang="en-US" altLang="zh-TW" dirty="0" err="1"/>
              <a:t>a_cz</a:t>
            </a:r>
            <a:r>
              <a:rPr lang="en-US" altLang="zh-TW" dirty="0"/>
              <a:t>]</a:t>
            </a:r>
          </a:p>
          <a:p>
            <a:endParaRPr lang="en-US" altLang="zh-TW" dirty="0"/>
          </a:p>
          <a:p>
            <a:r>
              <a:rPr lang="en-US" altLang="zh-TW" dirty="0"/>
              <a:t>0.    Inertial sensor frame </a:t>
            </a:r>
            <a:r>
              <a:rPr lang="zh-TW" altLang="en-US" dirty="0"/>
              <a:t>初始</a:t>
            </a:r>
            <a:endParaRPr lang="en-US" altLang="zh-TW" dirty="0"/>
          </a:p>
          <a:p>
            <a:pPr marL="342900" indent="-342900">
              <a:buFontTx/>
              <a:buAutoNum type="arabicPeriod"/>
            </a:pPr>
            <a:r>
              <a:rPr lang="en-US" altLang="zh-TW" dirty="0"/>
              <a:t>Inertial sensor frame </a:t>
            </a:r>
            <a:r>
              <a:rPr lang="zh-TW" altLang="en-US" dirty="0"/>
              <a:t>沿</a:t>
            </a:r>
            <a:r>
              <a:rPr lang="en-US" altLang="zh-TW" dirty="0"/>
              <a:t>Z</a:t>
            </a:r>
            <a:r>
              <a:rPr lang="zh-TW" altLang="en-US" dirty="0"/>
              <a:t>軸逆時針旋轉</a:t>
            </a:r>
            <a:r>
              <a:rPr lang="en-US" altLang="zh-TW" dirty="0"/>
              <a:t>90</a:t>
            </a:r>
            <a:r>
              <a:rPr lang="zh-TW" altLang="en-US" dirty="0"/>
              <a:t>度*</a:t>
            </a:r>
            <a:r>
              <a:rPr lang="en-US" altLang="zh-TW" dirty="0"/>
              <a:t>1</a:t>
            </a:r>
          </a:p>
          <a:p>
            <a:pPr marL="342900" indent="-342900">
              <a:buFontTx/>
              <a:buAutoNum type="arabicPeriod"/>
            </a:pPr>
            <a:r>
              <a:rPr lang="en-US" altLang="zh-TW" dirty="0"/>
              <a:t>Inertial sensor frame</a:t>
            </a:r>
            <a:r>
              <a:rPr lang="zh-TW" altLang="en-US" dirty="0"/>
              <a:t>沿</a:t>
            </a:r>
            <a:r>
              <a:rPr lang="en-US" altLang="zh-TW" dirty="0"/>
              <a:t>Z</a:t>
            </a:r>
            <a:r>
              <a:rPr lang="zh-TW" altLang="en-US" dirty="0"/>
              <a:t>軸逆時針旋轉</a:t>
            </a:r>
            <a:r>
              <a:rPr lang="en-US" altLang="zh-TW" dirty="0"/>
              <a:t>90</a:t>
            </a:r>
            <a:r>
              <a:rPr lang="zh-TW" altLang="en-US" dirty="0"/>
              <a:t>度*</a:t>
            </a:r>
            <a:r>
              <a:rPr lang="en-US" altLang="zh-TW" dirty="0"/>
              <a:t>2</a:t>
            </a:r>
          </a:p>
          <a:p>
            <a:pPr marL="342900" indent="-342900">
              <a:buFontTx/>
              <a:buAutoNum type="arabicPeriod"/>
            </a:pPr>
            <a:r>
              <a:rPr lang="en-US" altLang="zh-TW" dirty="0"/>
              <a:t>Inertial sensor frame</a:t>
            </a:r>
            <a:r>
              <a:rPr lang="zh-TW" altLang="en-US" dirty="0"/>
              <a:t>沿</a:t>
            </a:r>
            <a:r>
              <a:rPr lang="en-US" altLang="zh-TW" dirty="0"/>
              <a:t>Z</a:t>
            </a:r>
            <a:r>
              <a:rPr lang="zh-TW" altLang="en-US" dirty="0"/>
              <a:t>軸逆時針旋轉</a:t>
            </a:r>
            <a:r>
              <a:rPr lang="en-US" altLang="zh-TW" dirty="0"/>
              <a:t>90</a:t>
            </a:r>
            <a:r>
              <a:rPr lang="zh-TW" altLang="en-US" dirty="0"/>
              <a:t>度*</a:t>
            </a:r>
            <a:r>
              <a:rPr lang="en-US" altLang="zh-TW" dirty="0"/>
              <a:t>3</a:t>
            </a:r>
          </a:p>
          <a:p>
            <a:pPr marL="342900" indent="-342900">
              <a:buAutoNum type="arabicPeriod" startAt="4"/>
            </a:pPr>
            <a:r>
              <a:rPr lang="en-US" altLang="zh-TW" dirty="0"/>
              <a:t>Inertial sensor frame </a:t>
            </a:r>
            <a:r>
              <a:rPr lang="zh-TW" altLang="en-US" dirty="0"/>
              <a:t>沿</a:t>
            </a:r>
            <a:r>
              <a:rPr lang="en-US" altLang="zh-TW" dirty="0"/>
              <a:t>Y</a:t>
            </a:r>
            <a:r>
              <a:rPr lang="zh-TW" altLang="en-US" dirty="0"/>
              <a:t>軸逆時針旋轉</a:t>
            </a:r>
            <a:r>
              <a:rPr lang="en-US" altLang="zh-TW" dirty="0"/>
              <a:t>180</a:t>
            </a:r>
            <a:r>
              <a:rPr lang="zh-TW" altLang="en-US" dirty="0"/>
              <a:t>度</a:t>
            </a:r>
            <a:endParaRPr lang="en-US" altLang="zh-TW" dirty="0"/>
          </a:p>
          <a:p>
            <a:pPr marL="342900" indent="-342900">
              <a:buFontTx/>
              <a:buAutoNum type="arabicPeriod" startAt="4"/>
            </a:pPr>
            <a:r>
              <a:rPr lang="en-US" altLang="zh-TW" dirty="0"/>
              <a:t>Inertial sensor frame </a:t>
            </a:r>
            <a:r>
              <a:rPr lang="zh-TW" altLang="en-US" dirty="0"/>
              <a:t>沿</a:t>
            </a:r>
            <a:r>
              <a:rPr lang="en-US" altLang="zh-TW" dirty="0"/>
              <a:t>Y</a:t>
            </a:r>
            <a:r>
              <a:rPr lang="zh-TW" altLang="en-US" dirty="0"/>
              <a:t>軸逆時針旋轉</a:t>
            </a:r>
            <a:r>
              <a:rPr lang="en-US" altLang="zh-TW" dirty="0"/>
              <a:t>180</a:t>
            </a:r>
            <a:r>
              <a:rPr lang="zh-TW" altLang="en-US" dirty="0"/>
              <a:t>度後沿</a:t>
            </a:r>
            <a:r>
              <a:rPr lang="en-US" altLang="zh-TW" dirty="0"/>
              <a:t>Z</a:t>
            </a:r>
            <a:r>
              <a:rPr lang="zh-TW" altLang="en-US" dirty="0"/>
              <a:t>軸逆時針旋轉</a:t>
            </a:r>
            <a:r>
              <a:rPr lang="en-US" altLang="zh-TW" dirty="0"/>
              <a:t>90</a:t>
            </a:r>
            <a:r>
              <a:rPr lang="zh-TW" altLang="en-US" dirty="0"/>
              <a:t>度*</a:t>
            </a:r>
            <a:r>
              <a:rPr lang="en-US" altLang="zh-TW" dirty="0"/>
              <a:t>1</a:t>
            </a:r>
          </a:p>
          <a:p>
            <a:pPr marL="342900" indent="-342900">
              <a:buFontTx/>
              <a:buAutoNum type="arabicPeriod" startAt="4"/>
            </a:pPr>
            <a:r>
              <a:rPr lang="en-US" altLang="zh-TW" dirty="0"/>
              <a:t>Inertial sensor frame </a:t>
            </a:r>
            <a:r>
              <a:rPr lang="zh-TW" altLang="en-US" dirty="0"/>
              <a:t>沿</a:t>
            </a:r>
            <a:r>
              <a:rPr lang="en-US" altLang="zh-TW" dirty="0"/>
              <a:t>Y</a:t>
            </a:r>
            <a:r>
              <a:rPr lang="zh-TW" altLang="en-US" dirty="0"/>
              <a:t>軸逆時針旋轉</a:t>
            </a:r>
            <a:r>
              <a:rPr lang="en-US" altLang="zh-TW" dirty="0"/>
              <a:t>180</a:t>
            </a:r>
            <a:r>
              <a:rPr lang="zh-TW" altLang="en-US" dirty="0"/>
              <a:t>度後沿</a:t>
            </a:r>
            <a:r>
              <a:rPr lang="en-US" altLang="zh-TW" dirty="0"/>
              <a:t>Z</a:t>
            </a:r>
            <a:r>
              <a:rPr lang="zh-TW" altLang="en-US" dirty="0"/>
              <a:t>軸逆時針旋轉</a:t>
            </a:r>
            <a:r>
              <a:rPr lang="en-US" altLang="zh-TW" dirty="0"/>
              <a:t>90</a:t>
            </a:r>
            <a:r>
              <a:rPr lang="zh-TW" altLang="en-US" dirty="0"/>
              <a:t>度*</a:t>
            </a:r>
            <a:r>
              <a:rPr lang="en-US" altLang="zh-TW" dirty="0"/>
              <a:t>2</a:t>
            </a:r>
          </a:p>
          <a:p>
            <a:pPr marL="342900" indent="-342900">
              <a:buFontTx/>
              <a:buAutoNum type="arabicPeriod" startAt="4"/>
            </a:pPr>
            <a:r>
              <a:rPr lang="en-US" altLang="zh-TW" dirty="0"/>
              <a:t>Inertial sensor frame </a:t>
            </a:r>
            <a:r>
              <a:rPr lang="zh-TW" altLang="en-US" dirty="0"/>
              <a:t>沿</a:t>
            </a:r>
            <a:r>
              <a:rPr lang="en-US" altLang="zh-TW" dirty="0"/>
              <a:t>Y</a:t>
            </a:r>
            <a:r>
              <a:rPr lang="zh-TW" altLang="en-US" dirty="0"/>
              <a:t>軸逆時針旋轉</a:t>
            </a:r>
            <a:r>
              <a:rPr lang="en-US" altLang="zh-TW" dirty="0"/>
              <a:t>180</a:t>
            </a:r>
            <a:r>
              <a:rPr lang="zh-TW" altLang="en-US" dirty="0"/>
              <a:t>度後沿</a:t>
            </a:r>
            <a:r>
              <a:rPr lang="en-US" altLang="zh-TW" dirty="0"/>
              <a:t>Z</a:t>
            </a:r>
            <a:r>
              <a:rPr lang="zh-TW" altLang="en-US" dirty="0"/>
              <a:t>軸逆時針旋轉</a:t>
            </a:r>
            <a:r>
              <a:rPr lang="en-US" altLang="zh-TW" dirty="0"/>
              <a:t>90</a:t>
            </a:r>
            <a:r>
              <a:rPr lang="zh-TW" altLang="en-US" dirty="0"/>
              <a:t>度*</a:t>
            </a:r>
            <a:r>
              <a:rPr lang="en-US" altLang="zh-TW" dirty="0"/>
              <a:t>3</a:t>
            </a:r>
          </a:p>
          <a:p>
            <a:pPr marL="342900" indent="-342900">
              <a:buFontTx/>
              <a:buAutoNum type="arabicPeriod" startAt="4"/>
            </a:pPr>
            <a:endParaRPr lang="en-US" altLang="zh-TW" dirty="0"/>
          </a:p>
          <a:p>
            <a:pPr marL="342900" indent="-342900">
              <a:buAutoNum type="arabicPeriod" startAt="4"/>
            </a:pPr>
            <a:endParaRPr lang="en-US" altLang="zh-TW" dirty="0"/>
          </a:p>
          <a:p>
            <a:endParaRPr lang="en-US" altLang="zh-TW" dirty="0"/>
          </a:p>
          <a:p>
            <a:pPr marL="342900" indent="-342900">
              <a:buAutoNum type="arabicPeriod"/>
            </a:pP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7C8C65C-FE6D-952A-2C0F-A67D1165F088}"/>
                  </a:ext>
                </a:extLst>
              </p:cNvPr>
              <p:cNvSpPr txBox="1"/>
              <p:nvPr/>
            </p:nvSpPr>
            <p:spPr>
              <a:xfrm>
                <a:off x="8757920" y="172720"/>
                <a:ext cx="3048527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7C8C65C-FE6D-952A-2C0F-A67D1165F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920" y="172720"/>
                <a:ext cx="3048527" cy="7325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1EA7A11-4252-273A-6C9F-26EB7100DEC7}"/>
                  </a:ext>
                </a:extLst>
              </p:cNvPr>
              <p:cNvSpPr txBox="1"/>
              <p:nvPr/>
            </p:nvSpPr>
            <p:spPr>
              <a:xfrm>
                <a:off x="5538798" y="1108917"/>
                <a:ext cx="3788345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1: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: cx = </a:t>
                </a:r>
                <a:r>
                  <a:rPr lang="en-US" altLang="zh-TW" dirty="0" err="1"/>
                  <a:t>sy</a:t>
                </a:r>
                <a:r>
                  <a:rPr lang="en-US" altLang="zh-TW" dirty="0"/>
                  <a:t>, cy = -</a:t>
                </a:r>
                <a:r>
                  <a:rPr lang="en-US" altLang="zh-TW" dirty="0" err="1"/>
                  <a:t>sx</a:t>
                </a:r>
                <a:r>
                  <a:rPr lang="en-US" altLang="zh-TW" dirty="0"/>
                  <a:t>, </a:t>
                </a:r>
                <a:r>
                  <a:rPr lang="en-US" altLang="zh-TW" dirty="0" err="1"/>
                  <a:t>cz</a:t>
                </a:r>
                <a:r>
                  <a:rPr lang="en-US" altLang="zh-TW" dirty="0"/>
                  <a:t> = </a:t>
                </a:r>
                <a:r>
                  <a:rPr lang="en-US" altLang="zh-TW" dirty="0" err="1"/>
                  <a:t>sz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1EA7A11-4252-273A-6C9F-26EB7100D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798" y="1108917"/>
                <a:ext cx="3788345" cy="732573"/>
              </a:xfrm>
              <a:prstGeom prst="rect">
                <a:avLst/>
              </a:prstGeom>
              <a:blipFill>
                <a:blip r:embed="rId3"/>
                <a:stretch>
                  <a:fillRect r="-30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FBF6571-508E-4287-2591-436B661D6D65}"/>
                  </a:ext>
                </a:extLst>
              </p:cNvPr>
              <p:cNvSpPr txBox="1"/>
              <p:nvPr/>
            </p:nvSpPr>
            <p:spPr>
              <a:xfrm>
                <a:off x="5423916" y="1882278"/>
                <a:ext cx="6815392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altLang="zh-TW" dirty="0"/>
                        <m:t>: </m:t>
                      </m:r>
                      <m:r>
                        <m:rPr>
                          <m:nor/>
                        </m:rPr>
                        <a:rPr lang="en-US" altLang="zh-TW" dirty="0"/>
                        <m:t>cx</m:t>
                      </m:r>
                      <m:r>
                        <m:rPr>
                          <m:nor/>
                        </m:rPr>
                        <a:rPr lang="en-US" altLang="zh-TW" dirty="0"/>
                        <m:t> = 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dirty="0"/>
                        <m:t>s</m:t>
                      </m:r>
                      <m:r>
                        <m:rPr>
                          <m:nor/>
                        </m:rPr>
                        <a:rPr lang="en-US" altLang="zh-TW" b="0" i="0" dirty="0" smtClean="0"/>
                        <m:t>x</m:t>
                      </m:r>
                      <m:r>
                        <m:rPr>
                          <m:nor/>
                        </m:rPr>
                        <a:rPr lang="en-US" altLang="zh-TW" dirty="0"/>
                        <m:t>, </m:t>
                      </m:r>
                      <m:r>
                        <m:rPr>
                          <m:nor/>
                        </m:rPr>
                        <a:rPr lang="en-US" altLang="zh-TW" dirty="0"/>
                        <m:t>cy</m:t>
                      </m:r>
                      <m:r>
                        <m:rPr>
                          <m:nor/>
                        </m:rPr>
                        <a:rPr lang="en-US" altLang="zh-TW" dirty="0"/>
                        <m:t> = −</m:t>
                      </m:r>
                      <m:r>
                        <m:rPr>
                          <m:nor/>
                        </m:rPr>
                        <a:rPr lang="en-US" altLang="zh-TW" dirty="0"/>
                        <m:t>sy</m:t>
                      </m:r>
                      <m:r>
                        <m:rPr>
                          <m:nor/>
                        </m:rPr>
                        <a:rPr lang="en-US" altLang="zh-TW" dirty="0"/>
                        <m:t>, </m:t>
                      </m:r>
                      <m:r>
                        <m:rPr>
                          <m:nor/>
                        </m:rPr>
                        <a:rPr lang="en-US" altLang="zh-TW" dirty="0"/>
                        <m:t>cz</m:t>
                      </m:r>
                      <m:r>
                        <m:rPr>
                          <m:nor/>
                        </m:rPr>
                        <a:rPr lang="en-US" altLang="zh-TW" dirty="0"/>
                        <m:t> = </m:t>
                      </m:r>
                      <m:r>
                        <m:rPr>
                          <m:nor/>
                        </m:rPr>
                        <a:rPr lang="en-US" altLang="zh-TW" dirty="0"/>
                        <m:t>sz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FBF6571-508E-4287-2591-436B661D6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916" y="1882278"/>
                <a:ext cx="6815392" cy="7325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D6AF4C1-0FDC-C00A-1BE5-2787D2F3EAB2}"/>
                  </a:ext>
                </a:extLst>
              </p:cNvPr>
              <p:cNvSpPr txBox="1"/>
              <p:nvPr/>
            </p:nvSpPr>
            <p:spPr>
              <a:xfrm>
                <a:off x="5482407" y="2696427"/>
                <a:ext cx="6709593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altLang="zh-TW" dirty="0"/>
                        <m:t>: </m:t>
                      </m:r>
                      <m:r>
                        <m:rPr>
                          <m:nor/>
                        </m:rPr>
                        <a:rPr lang="en-US" altLang="zh-TW" dirty="0"/>
                        <m:t>cx</m:t>
                      </m:r>
                      <m:r>
                        <m:rPr>
                          <m:nor/>
                        </m:rPr>
                        <a:rPr lang="en-US" altLang="zh-TW" dirty="0"/>
                        <m:t> = 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dirty="0"/>
                        <m:t>s</m:t>
                      </m:r>
                      <m:r>
                        <m:rPr>
                          <m:nor/>
                        </m:rPr>
                        <a:rPr lang="en-US" altLang="zh-TW" b="0" i="0" dirty="0" smtClean="0"/>
                        <m:t>y</m:t>
                      </m:r>
                      <m:r>
                        <m:rPr>
                          <m:nor/>
                        </m:rPr>
                        <a:rPr lang="en-US" altLang="zh-TW" dirty="0"/>
                        <m:t>, </m:t>
                      </m:r>
                      <m:r>
                        <m:rPr>
                          <m:nor/>
                        </m:rPr>
                        <a:rPr lang="en-US" altLang="zh-TW" dirty="0"/>
                        <m:t>cy</m:t>
                      </m:r>
                      <m:r>
                        <m:rPr>
                          <m:nor/>
                        </m:rPr>
                        <a:rPr lang="en-US" altLang="zh-TW" dirty="0"/>
                        <m:t> = </m:t>
                      </m:r>
                      <m:r>
                        <m:rPr>
                          <m:nor/>
                        </m:rPr>
                        <a:rPr lang="en-US" altLang="zh-TW" dirty="0"/>
                        <m:t>sx</m:t>
                      </m:r>
                      <m:r>
                        <m:rPr>
                          <m:nor/>
                        </m:rPr>
                        <a:rPr lang="en-US" altLang="zh-TW" dirty="0"/>
                        <m:t>, </m:t>
                      </m:r>
                      <m:r>
                        <m:rPr>
                          <m:nor/>
                        </m:rPr>
                        <a:rPr lang="en-US" altLang="zh-TW" dirty="0"/>
                        <m:t>cz</m:t>
                      </m:r>
                      <m:r>
                        <m:rPr>
                          <m:nor/>
                        </m:rPr>
                        <a:rPr lang="en-US" altLang="zh-TW" dirty="0"/>
                        <m:t> = </m:t>
                      </m:r>
                      <m:r>
                        <m:rPr>
                          <m:nor/>
                        </m:rPr>
                        <a:rPr lang="en-US" altLang="zh-TW" dirty="0"/>
                        <m:t>sz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D6AF4C1-0FDC-C00A-1BE5-2787D2F3E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407" y="2696427"/>
                <a:ext cx="6709593" cy="732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58728B8D-8538-9610-7778-A405EAA73E31}"/>
              </a:ext>
            </a:extLst>
          </p:cNvPr>
          <p:cNvSpPr txBox="1"/>
          <p:nvPr/>
        </p:nvSpPr>
        <p:spPr>
          <a:xfrm>
            <a:off x="6591942" y="271487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沿</a:t>
            </a:r>
            <a:r>
              <a:rPr lang="en-US" altLang="zh-TW" dirty="0"/>
              <a:t>Z</a:t>
            </a:r>
            <a:r>
              <a:rPr lang="zh-TW" altLang="en-US" dirty="0"/>
              <a:t>軸逆時針旋轉</a:t>
            </a:r>
            <a:r>
              <a:rPr lang="en-US" altLang="zh-TW" dirty="0"/>
              <a:t>90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068FA65-F4EA-FA29-1B5B-00C24F8DD551}"/>
              </a:ext>
            </a:extLst>
          </p:cNvPr>
          <p:cNvSpPr txBox="1"/>
          <p:nvPr/>
        </p:nvSpPr>
        <p:spPr>
          <a:xfrm>
            <a:off x="252102" y="4569167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4. </a:t>
            </a:r>
            <a:r>
              <a:rPr lang="zh-TW" altLang="en-US" dirty="0"/>
              <a:t>沿</a:t>
            </a:r>
            <a:r>
              <a:rPr lang="en-US" altLang="zh-TW" dirty="0"/>
              <a:t>Y</a:t>
            </a:r>
            <a:r>
              <a:rPr lang="zh-TW" altLang="en-US" dirty="0"/>
              <a:t>軸逆時針旋轉</a:t>
            </a:r>
            <a:r>
              <a:rPr lang="en-US" altLang="zh-TW" dirty="0"/>
              <a:t>180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85015D8-C10E-B010-1F6B-F048858DA84F}"/>
                  </a:ext>
                </a:extLst>
              </p:cNvPr>
              <p:cNvSpPr txBox="1"/>
              <p:nvPr/>
            </p:nvSpPr>
            <p:spPr>
              <a:xfrm>
                <a:off x="2783564" y="4441528"/>
                <a:ext cx="4669483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(−180)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(−180)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85015D8-C10E-B010-1F6B-F048858DA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564" y="4441528"/>
                <a:ext cx="4669483" cy="8803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27F78EA-8253-CD47-C962-86FECAB7E2D4}"/>
                  </a:ext>
                </a:extLst>
              </p:cNvPr>
              <p:cNvSpPr txBox="1"/>
              <p:nvPr/>
            </p:nvSpPr>
            <p:spPr>
              <a:xfrm>
                <a:off x="252102" y="5478688"/>
                <a:ext cx="7309117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altLang="zh-TW" dirty="0"/>
                        <m:t>: </m:t>
                      </m:r>
                      <m:r>
                        <m:rPr>
                          <m:nor/>
                        </m:rPr>
                        <a:rPr lang="en-US" altLang="zh-TW" dirty="0"/>
                        <m:t>cx</m:t>
                      </m:r>
                      <m:r>
                        <m:rPr>
                          <m:nor/>
                        </m:rPr>
                        <a:rPr lang="en-US" altLang="zh-TW" dirty="0"/>
                        <m:t> = 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dirty="0"/>
                        <m:t>s</m:t>
                      </m:r>
                      <m:r>
                        <m:rPr>
                          <m:nor/>
                        </m:rPr>
                        <a:rPr lang="en-US" altLang="zh-TW" b="0" i="0" dirty="0" smtClean="0"/>
                        <m:t>y</m:t>
                      </m:r>
                      <m:r>
                        <m:rPr>
                          <m:nor/>
                        </m:rPr>
                        <a:rPr lang="en-US" altLang="zh-TW" dirty="0"/>
                        <m:t>, </m:t>
                      </m:r>
                      <m:r>
                        <m:rPr>
                          <m:nor/>
                        </m:rPr>
                        <a:rPr lang="en-US" altLang="zh-TW" dirty="0"/>
                        <m:t>cy</m:t>
                      </m:r>
                      <m:r>
                        <m:rPr>
                          <m:nor/>
                        </m:rPr>
                        <a:rPr lang="en-US" altLang="zh-TW" dirty="0"/>
                        <m:t> = −</m:t>
                      </m:r>
                      <m:r>
                        <m:rPr>
                          <m:nor/>
                        </m:rPr>
                        <a:rPr lang="en-US" altLang="zh-TW" dirty="0"/>
                        <m:t>sx</m:t>
                      </m:r>
                      <m:r>
                        <m:rPr>
                          <m:nor/>
                        </m:rPr>
                        <a:rPr lang="en-US" altLang="zh-TW" dirty="0"/>
                        <m:t>, </m:t>
                      </m:r>
                      <m:r>
                        <m:rPr>
                          <m:nor/>
                        </m:rPr>
                        <a:rPr lang="en-US" altLang="zh-TW" dirty="0"/>
                        <m:t>cz</m:t>
                      </m:r>
                      <m:r>
                        <m:rPr>
                          <m:nor/>
                        </m:rPr>
                        <a:rPr lang="en-US" altLang="zh-TW" dirty="0"/>
                        <m:t> = −</m:t>
                      </m:r>
                      <m:r>
                        <m:rPr>
                          <m:nor/>
                        </m:rPr>
                        <a:rPr lang="en-US" altLang="zh-TW" dirty="0"/>
                        <m:t>sz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27F78EA-8253-CD47-C962-86FECAB7E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02" y="5478688"/>
                <a:ext cx="7309117" cy="7325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08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34DE92A-0C13-D52C-DC2C-B0BF2ABF8C3D}"/>
                  </a:ext>
                </a:extLst>
              </p:cNvPr>
              <p:cNvSpPr txBox="1"/>
              <p:nvPr/>
            </p:nvSpPr>
            <p:spPr>
              <a:xfrm>
                <a:off x="455301" y="398688"/>
                <a:ext cx="7309117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altLang="zh-TW" dirty="0"/>
                        <m:t>: </m:t>
                      </m:r>
                      <m:r>
                        <m:rPr>
                          <m:nor/>
                        </m:rPr>
                        <a:rPr lang="en-US" altLang="zh-TW" dirty="0"/>
                        <m:t>cx</m:t>
                      </m:r>
                      <m:r>
                        <m:rPr>
                          <m:nor/>
                        </m:rPr>
                        <a:rPr lang="en-US" altLang="zh-TW" dirty="0"/>
                        <m:t> = </m:t>
                      </m:r>
                      <m:r>
                        <m:rPr>
                          <m:nor/>
                        </m:rPr>
                        <a:rPr lang="en-US" altLang="zh-TW" dirty="0"/>
                        <m:t>sx</m:t>
                      </m:r>
                      <m:r>
                        <m:rPr>
                          <m:nor/>
                        </m:rPr>
                        <a:rPr lang="en-US" altLang="zh-TW" dirty="0"/>
                        <m:t>, </m:t>
                      </m:r>
                      <m:r>
                        <m:rPr>
                          <m:nor/>
                        </m:rPr>
                        <a:rPr lang="en-US" altLang="zh-TW" dirty="0"/>
                        <m:t>cy</m:t>
                      </m:r>
                      <m:r>
                        <m:rPr>
                          <m:nor/>
                        </m:rPr>
                        <a:rPr lang="en-US" altLang="zh-TW" dirty="0"/>
                        <m:t> = −</m:t>
                      </m:r>
                      <m:r>
                        <m:rPr>
                          <m:nor/>
                        </m:rPr>
                        <a:rPr lang="en-US" altLang="zh-TW" dirty="0"/>
                        <m:t>sy</m:t>
                      </m:r>
                      <m:r>
                        <m:rPr>
                          <m:nor/>
                        </m:rPr>
                        <a:rPr lang="en-US" altLang="zh-TW" dirty="0"/>
                        <m:t>, </m:t>
                      </m:r>
                      <m:r>
                        <m:rPr>
                          <m:nor/>
                        </m:rPr>
                        <a:rPr lang="en-US" altLang="zh-TW" dirty="0"/>
                        <m:t>cz</m:t>
                      </m:r>
                      <m:r>
                        <m:rPr>
                          <m:nor/>
                        </m:rPr>
                        <a:rPr lang="en-US" altLang="zh-TW" dirty="0"/>
                        <m:t> = −</m:t>
                      </m:r>
                      <m:r>
                        <m:rPr>
                          <m:nor/>
                        </m:rPr>
                        <a:rPr lang="en-US" altLang="zh-TW" dirty="0"/>
                        <m:t>sz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34DE92A-0C13-D52C-DC2C-B0BF2ABF8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01" y="398688"/>
                <a:ext cx="7309117" cy="7325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95CB8D8-F54F-96B2-D130-B168442B5580}"/>
                  </a:ext>
                </a:extLst>
              </p:cNvPr>
              <p:cNvSpPr txBox="1"/>
              <p:nvPr/>
            </p:nvSpPr>
            <p:spPr>
              <a:xfrm>
                <a:off x="455301" y="1394368"/>
                <a:ext cx="6887527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altLang="zh-TW" dirty="0"/>
                        <m:t>: </m:t>
                      </m:r>
                      <m:r>
                        <m:rPr>
                          <m:nor/>
                        </m:rPr>
                        <a:rPr lang="en-US" altLang="zh-TW" dirty="0"/>
                        <m:t>cx</m:t>
                      </m:r>
                      <m:r>
                        <m:rPr>
                          <m:nor/>
                        </m:rPr>
                        <a:rPr lang="en-US" altLang="zh-TW" dirty="0"/>
                        <m:t> = </m:t>
                      </m:r>
                      <m:r>
                        <m:rPr>
                          <m:nor/>
                        </m:rPr>
                        <a:rPr lang="en-US" altLang="zh-TW" dirty="0"/>
                        <m:t>sy</m:t>
                      </m:r>
                      <m:r>
                        <m:rPr>
                          <m:nor/>
                        </m:rPr>
                        <a:rPr lang="en-US" altLang="zh-TW" dirty="0"/>
                        <m:t>, </m:t>
                      </m:r>
                      <m:r>
                        <m:rPr>
                          <m:nor/>
                        </m:rPr>
                        <a:rPr lang="en-US" altLang="zh-TW" dirty="0"/>
                        <m:t>cy</m:t>
                      </m:r>
                      <m:r>
                        <m:rPr>
                          <m:nor/>
                        </m:rPr>
                        <a:rPr lang="en-US" altLang="zh-TW" dirty="0"/>
                        <m:t> = </m:t>
                      </m:r>
                      <m:r>
                        <m:rPr>
                          <m:nor/>
                        </m:rPr>
                        <a:rPr lang="en-US" altLang="zh-TW" dirty="0"/>
                        <m:t>sx</m:t>
                      </m:r>
                      <m:r>
                        <m:rPr>
                          <m:nor/>
                        </m:rPr>
                        <a:rPr lang="en-US" altLang="zh-TW" dirty="0"/>
                        <m:t>, </m:t>
                      </m:r>
                      <m:r>
                        <m:rPr>
                          <m:nor/>
                        </m:rPr>
                        <a:rPr lang="en-US" altLang="zh-TW" dirty="0"/>
                        <m:t>cz</m:t>
                      </m:r>
                      <m:r>
                        <m:rPr>
                          <m:nor/>
                        </m:rPr>
                        <a:rPr lang="en-US" altLang="zh-TW" dirty="0"/>
                        <m:t> = −</m:t>
                      </m:r>
                      <m:r>
                        <m:rPr>
                          <m:nor/>
                        </m:rPr>
                        <a:rPr lang="en-US" altLang="zh-TW" dirty="0"/>
                        <m:t>sz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95CB8D8-F54F-96B2-D130-B168442B5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01" y="1394368"/>
                <a:ext cx="6887527" cy="7325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AD804032-DB8F-B7FD-CE48-C465B6297610}"/>
              </a:ext>
            </a:extLst>
          </p:cNvPr>
          <p:cNvSpPr txBox="1"/>
          <p:nvPr/>
        </p:nvSpPr>
        <p:spPr>
          <a:xfrm>
            <a:off x="812800" y="2824480"/>
            <a:ext cx="5638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旋轉完後，再讓</a:t>
            </a:r>
            <a:r>
              <a:rPr lang="en-US" altLang="zh-TW" dirty="0" err="1"/>
              <a:t>g_c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 err="1"/>
              <a:t>a_c</a:t>
            </a:r>
            <a:r>
              <a:rPr lang="zh-TW" altLang="en-US" dirty="0"/>
              <a:t>取代原本的</a:t>
            </a:r>
            <a:r>
              <a:rPr lang="en-US" altLang="zh-TW" dirty="0"/>
              <a:t>input</a:t>
            </a:r>
            <a:r>
              <a:rPr lang="zh-TW" altLang="en-US" dirty="0"/>
              <a:t>做後續運算</a:t>
            </a:r>
          </a:p>
        </p:txBody>
      </p:sp>
    </p:spTree>
    <p:extLst>
      <p:ext uri="{BB962C8B-B14F-4D97-AF65-F5344CB8AC3E}">
        <p14:creationId xmlns:p14="http://schemas.microsoft.com/office/powerpoint/2010/main" val="4160920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0216B-AD90-CD6A-ABDD-B3926F9B8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3D7D4FE9-51EA-0B54-94DB-8F5CCFD0EBE8}"/>
              </a:ext>
            </a:extLst>
          </p:cNvPr>
          <p:cNvGrpSpPr/>
          <p:nvPr/>
        </p:nvGrpSpPr>
        <p:grpSpPr>
          <a:xfrm>
            <a:off x="547708" y="132890"/>
            <a:ext cx="8611802" cy="6592220"/>
            <a:chOff x="1790099" y="132890"/>
            <a:chExt cx="8611802" cy="659222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E52F4379-E50D-2751-0D80-C8A1C6FFC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0099" y="132890"/>
              <a:ext cx="8611802" cy="6592220"/>
            </a:xfrm>
            <a:prstGeom prst="rect">
              <a:avLst/>
            </a:prstGeom>
          </p:spPr>
        </p:pic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610FD7BF-C2E6-BFEF-D0C0-5D313C44748D}"/>
                </a:ext>
              </a:extLst>
            </p:cNvPr>
            <p:cNvCxnSpPr/>
            <p:nvPr/>
          </p:nvCxnSpPr>
          <p:spPr>
            <a:xfrm>
              <a:off x="8289235" y="914400"/>
              <a:ext cx="18089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37716C9F-2771-5BC1-1057-AF4070AF3BBF}"/>
                </a:ext>
              </a:extLst>
            </p:cNvPr>
            <p:cNvCxnSpPr>
              <a:cxnSpLocks/>
            </p:cNvCxnSpPr>
            <p:nvPr/>
          </p:nvCxnSpPr>
          <p:spPr>
            <a:xfrm>
              <a:off x="2017643" y="1103243"/>
              <a:ext cx="808051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54BA87F4-225B-7DE7-6D2F-1F11B8F985BF}"/>
                </a:ext>
              </a:extLst>
            </p:cNvPr>
            <p:cNvCxnSpPr>
              <a:cxnSpLocks/>
            </p:cNvCxnSpPr>
            <p:nvPr/>
          </p:nvCxnSpPr>
          <p:spPr>
            <a:xfrm>
              <a:off x="2017643" y="1315278"/>
              <a:ext cx="98397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58E1051-6C67-A65C-2A06-20EAB0545AAB}"/>
              </a:ext>
            </a:extLst>
          </p:cNvPr>
          <p:cNvSpPr txBox="1"/>
          <p:nvPr/>
        </p:nvSpPr>
        <p:spPr>
          <a:xfrm>
            <a:off x="9743735" y="1315278"/>
            <a:ext cx="2077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可藉由</a:t>
            </a:r>
            <a:r>
              <a:rPr lang="en-US" altLang="zh-TW" dirty="0"/>
              <a:t>RFR</a:t>
            </a:r>
            <a:r>
              <a:rPr lang="zh-TW" altLang="en-US" dirty="0"/>
              <a:t>來旋轉</a:t>
            </a:r>
            <a:r>
              <a:rPr lang="en-US" altLang="zh-TW" dirty="0"/>
              <a:t>Sensor frame</a:t>
            </a:r>
            <a:r>
              <a:rPr lang="zh-TW" altLang="en-US" dirty="0"/>
              <a:t>來</a:t>
            </a:r>
            <a:r>
              <a:rPr lang="en-US" altLang="zh-TW" dirty="0"/>
              <a:t>match body frame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5809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D949B-6B15-7053-4760-040F297B8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95A1858-5AB4-AB6A-BAE6-0AAB63253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32" y="1270366"/>
            <a:ext cx="8259328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537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F443-8048-8C3F-340A-749203B12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EFB4D43-E2AD-DD86-7E8D-178531F1190D}"/>
              </a:ext>
            </a:extLst>
          </p:cNvPr>
          <p:cNvSpPr txBox="1"/>
          <p:nvPr/>
        </p:nvSpPr>
        <p:spPr>
          <a:xfrm>
            <a:off x="1287624" y="615820"/>
            <a:ext cx="104531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姿態角</a:t>
            </a:r>
            <a:r>
              <a:rPr lang="en-US" altLang="zh-TW" dirty="0" err="1"/>
              <a:t>VectorNav</a:t>
            </a:r>
            <a:r>
              <a:rPr lang="zh-TW" altLang="en-US" dirty="0"/>
              <a:t>文件</a:t>
            </a:r>
            <a:r>
              <a:rPr lang="en-US" altLang="zh-TW" dirty="0"/>
              <a:t>:</a:t>
            </a:r>
            <a:endParaRPr lang="en-US" altLang="zh-TW" dirty="0">
              <a:hlinkClick r:id="rId2"/>
            </a:endParaRPr>
          </a:p>
          <a:p>
            <a:r>
              <a:rPr lang="en-US" altLang="zh-TW" dirty="0">
                <a:hlinkClick r:id="rId2"/>
              </a:rPr>
              <a:t>https://www.vectornav.com/resources/inertial-navigation-primer/math-fundamentals/math-attituderep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4372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EF7BD-C7F3-6A6A-7BB8-0EA3D4BF9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D61D662-6356-ABBE-629B-438FEBA14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80" y="1934160"/>
            <a:ext cx="3115110" cy="3486637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DD32D7D0-2B0E-CBE1-6C50-410A96D17330}"/>
              </a:ext>
            </a:extLst>
          </p:cNvPr>
          <p:cNvGrpSpPr/>
          <p:nvPr/>
        </p:nvGrpSpPr>
        <p:grpSpPr>
          <a:xfrm>
            <a:off x="2391279" y="952573"/>
            <a:ext cx="2337914" cy="1601784"/>
            <a:chOff x="4746852" y="803486"/>
            <a:chExt cx="2337914" cy="1601784"/>
          </a:xfrm>
        </p:grpSpPr>
        <p:cxnSp>
          <p:nvCxnSpPr>
            <p:cNvPr id="5" name="直線單箭頭接點 4">
              <a:extLst>
                <a:ext uri="{FF2B5EF4-FFF2-40B4-BE49-F238E27FC236}">
                  <a16:creationId xmlns:a16="http://schemas.microsoft.com/office/drawing/2014/main" id="{A64010F7-CB4A-A144-154F-0D7751ADC9DA}"/>
                </a:ext>
              </a:extLst>
            </p:cNvPr>
            <p:cNvCxnSpPr/>
            <p:nvPr/>
          </p:nvCxnSpPr>
          <p:spPr>
            <a:xfrm flipV="1">
              <a:off x="5837582" y="1838739"/>
              <a:ext cx="934278" cy="5665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3F3FC2E4-4C06-08F9-A8F4-4368940CFA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9443" y="1838739"/>
              <a:ext cx="848139" cy="5565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7E857CA0-4669-ED27-47C6-0519F65E52A2}"/>
                </a:ext>
              </a:extLst>
            </p:cNvPr>
            <p:cNvCxnSpPr/>
            <p:nvPr/>
          </p:nvCxnSpPr>
          <p:spPr>
            <a:xfrm flipV="1">
              <a:off x="5837582" y="1172818"/>
              <a:ext cx="0" cy="12225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0253B0C8-537C-84C2-BB88-DFDEB4EDDC87}"/>
                </a:ext>
              </a:extLst>
            </p:cNvPr>
            <p:cNvSpPr txBox="1"/>
            <p:nvPr/>
          </p:nvSpPr>
          <p:spPr>
            <a:xfrm>
              <a:off x="6771860" y="15994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X</a:t>
              </a:r>
              <a:endParaRPr lang="zh-TW" altLang="en-US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BAC84CCA-BE5F-B416-6D60-101C29BBC351}"/>
                </a:ext>
              </a:extLst>
            </p:cNvPr>
            <p:cNvSpPr txBox="1"/>
            <p:nvPr/>
          </p:nvSpPr>
          <p:spPr>
            <a:xfrm>
              <a:off x="4746852" y="145946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Y</a:t>
              </a:r>
              <a:endParaRPr lang="zh-TW" altLang="en-US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DD352452-443B-E63F-42F6-E2CE7586EB7D}"/>
                </a:ext>
              </a:extLst>
            </p:cNvPr>
            <p:cNvSpPr txBox="1"/>
            <p:nvPr/>
          </p:nvSpPr>
          <p:spPr>
            <a:xfrm>
              <a:off x="5682732" y="803486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Z</a:t>
              </a:r>
              <a:endParaRPr lang="zh-TW" altLang="en-US" dirty="0"/>
            </a:p>
          </p:txBody>
        </p:sp>
      </p:grpSp>
      <p:pic>
        <p:nvPicPr>
          <p:cNvPr id="18" name="圖片 17">
            <a:extLst>
              <a:ext uri="{FF2B5EF4-FFF2-40B4-BE49-F238E27FC236}">
                <a16:creationId xmlns:a16="http://schemas.microsoft.com/office/drawing/2014/main" id="{96967582-19AF-CA27-09C6-4A5D9F921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138" y="1433234"/>
            <a:ext cx="3858163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38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C622E-3FA7-F9F4-F384-ECCAEDA91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9AD21B5C-A8C7-4C65-8166-6DDC3BCB367F}"/>
              </a:ext>
            </a:extLst>
          </p:cNvPr>
          <p:cNvGrpSpPr/>
          <p:nvPr/>
        </p:nvGrpSpPr>
        <p:grpSpPr>
          <a:xfrm>
            <a:off x="496026" y="1149337"/>
            <a:ext cx="2246244" cy="2386975"/>
            <a:chOff x="938020" y="1977887"/>
            <a:chExt cx="2246244" cy="238697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3A1A5AB-94F5-EA5B-AFD4-EC630D89C6D6}"/>
                </a:ext>
              </a:extLst>
            </p:cNvPr>
            <p:cNvSpPr/>
            <p:nvPr/>
          </p:nvSpPr>
          <p:spPr>
            <a:xfrm>
              <a:off x="938020" y="1977887"/>
              <a:ext cx="2246244" cy="145111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IRIS Coil or MEMS</a:t>
              </a:r>
              <a:r>
                <a:rPr lang="zh-TW" altLang="en-US" dirty="0">
                  <a:solidFill>
                    <a:sysClr val="windowText" lastClr="000000"/>
                  </a:solidFill>
                </a:rPr>
                <a:t> </a:t>
              </a:r>
              <a:r>
                <a:rPr lang="en-US" altLang="zh-TW" dirty="0">
                  <a:solidFill>
                    <a:sysClr val="windowText" lastClr="000000"/>
                  </a:solidFill>
                </a:rPr>
                <a:t>IMU</a:t>
              </a:r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4350CD53-13C9-D89E-37EA-1EEA4081FC36}"/>
                </a:ext>
              </a:extLst>
            </p:cNvPr>
            <p:cNvGrpSpPr/>
            <p:nvPr/>
          </p:nvGrpSpPr>
          <p:grpSpPr>
            <a:xfrm>
              <a:off x="1933162" y="3031434"/>
              <a:ext cx="1177786" cy="1333428"/>
              <a:chOff x="3642692" y="3329608"/>
              <a:chExt cx="1177786" cy="1333428"/>
            </a:xfrm>
          </p:grpSpPr>
          <p:cxnSp>
            <p:nvCxnSpPr>
              <p:cNvPr id="5" name="直線單箭頭接點 4">
                <a:extLst>
                  <a:ext uri="{FF2B5EF4-FFF2-40B4-BE49-F238E27FC236}">
                    <a16:creationId xmlns:a16="http://schemas.microsoft.com/office/drawing/2014/main" id="{2B718448-8CF5-02B5-3A90-30B7C0659CA9}"/>
                  </a:ext>
                </a:extLst>
              </p:cNvPr>
              <p:cNvCxnSpPr/>
              <p:nvPr/>
            </p:nvCxnSpPr>
            <p:spPr>
              <a:xfrm>
                <a:off x="3756992" y="3448878"/>
                <a:ext cx="0" cy="8448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單箭頭接點 6">
                <a:extLst>
                  <a:ext uri="{FF2B5EF4-FFF2-40B4-BE49-F238E27FC236}">
                    <a16:creationId xmlns:a16="http://schemas.microsoft.com/office/drawing/2014/main" id="{24F4E6E8-99B4-93DE-02F5-B090FEFD1AF5}"/>
                  </a:ext>
                </a:extLst>
              </p:cNvPr>
              <p:cNvCxnSpPr/>
              <p:nvPr/>
            </p:nvCxnSpPr>
            <p:spPr>
              <a:xfrm>
                <a:off x="3756992" y="3438939"/>
                <a:ext cx="94421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84D030B-6B18-B2F7-F79B-2F33BBDDE059}"/>
                  </a:ext>
                </a:extLst>
              </p:cNvPr>
              <p:cNvSpPr txBox="1"/>
              <p:nvPr/>
            </p:nvSpPr>
            <p:spPr>
              <a:xfrm>
                <a:off x="3756992" y="4293704"/>
                <a:ext cx="423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ysClr val="windowText" lastClr="000000"/>
                    </a:solidFill>
                  </a:rPr>
                  <a:t>X</a:t>
                </a:r>
                <a:endParaRPr lang="zh-TW" altLang="en-US" dirty="0"/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C58FCD2-6C27-1EF5-D0C2-D7152899E41E}"/>
                  </a:ext>
                </a:extLst>
              </p:cNvPr>
              <p:cNvSpPr txBox="1"/>
              <p:nvPr/>
            </p:nvSpPr>
            <p:spPr>
              <a:xfrm>
                <a:off x="4396838" y="3458817"/>
                <a:ext cx="423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ysClr val="windowText" lastClr="000000"/>
                    </a:solidFill>
                  </a:rPr>
                  <a:t>Y</a:t>
                </a:r>
                <a:endParaRPr lang="zh-TW" altLang="en-US" dirty="0"/>
              </a:p>
            </p:txBody>
          </p:sp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99DDF575-B9A8-CCD8-0680-AA9F98716069}"/>
                  </a:ext>
                </a:extLst>
              </p:cNvPr>
              <p:cNvGrpSpPr/>
              <p:nvPr/>
            </p:nvGrpSpPr>
            <p:grpSpPr>
              <a:xfrm>
                <a:off x="3642692" y="3329608"/>
                <a:ext cx="228600" cy="198783"/>
                <a:chOff x="6370983" y="2832652"/>
                <a:chExt cx="228600" cy="198783"/>
              </a:xfrm>
            </p:grpSpPr>
            <p:sp>
              <p:nvSpPr>
                <p:cNvPr id="11" name="橢圓 10">
                  <a:extLst>
                    <a:ext uri="{FF2B5EF4-FFF2-40B4-BE49-F238E27FC236}">
                      <a16:creationId xmlns:a16="http://schemas.microsoft.com/office/drawing/2014/main" id="{1624861E-7D30-C8CA-3439-12DEB07C7723}"/>
                    </a:ext>
                  </a:extLst>
                </p:cNvPr>
                <p:cNvSpPr/>
                <p:nvPr/>
              </p:nvSpPr>
              <p:spPr>
                <a:xfrm>
                  <a:off x="6370983" y="2832652"/>
                  <a:ext cx="228600" cy="198783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2">
                  <p14:nvContentPartPr>
                    <p14:cNvPr id="12" name="筆跡 11">
                      <a:extLst>
                        <a:ext uri="{FF2B5EF4-FFF2-40B4-BE49-F238E27FC236}">
                          <a16:creationId xmlns:a16="http://schemas.microsoft.com/office/drawing/2014/main" id="{4E48BBC2-7A8D-4BD8-FDFD-D2ACD1D6B4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480282" y="2931965"/>
                    <a:ext cx="360" cy="360"/>
                  </p14:xfrm>
                </p:contentPart>
              </mc:Choice>
              <mc:Fallback xmlns="">
                <p:pic>
                  <p:nvPicPr>
                    <p:cNvPr id="12" name="筆跡 11">
                      <a:extLst>
                        <a:ext uri="{FF2B5EF4-FFF2-40B4-BE49-F238E27FC236}">
                          <a16:creationId xmlns:a16="http://schemas.microsoft.com/office/drawing/2014/main" id="{3BED5419-6FF8-0FA6-5052-56E60961F058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6474162" y="2925845"/>
                      <a:ext cx="12600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13" name="筆跡 12">
                      <a:extLst>
                        <a:ext uri="{FF2B5EF4-FFF2-40B4-BE49-F238E27FC236}">
                          <a16:creationId xmlns:a16="http://schemas.microsoft.com/office/drawing/2014/main" id="{E277D18C-3315-9026-452C-1A36147D6C3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472722" y="2922245"/>
                    <a:ext cx="17640" cy="2520"/>
                  </p14:xfrm>
                </p:contentPart>
              </mc:Choice>
              <mc:Fallback xmlns="">
                <p:pic>
                  <p:nvPicPr>
                    <p:cNvPr id="13" name="筆跡 12">
                      <a:extLst>
                        <a:ext uri="{FF2B5EF4-FFF2-40B4-BE49-F238E27FC236}">
                          <a16:creationId xmlns:a16="http://schemas.microsoft.com/office/drawing/2014/main" id="{E56CF369-FF6F-E4FD-BC05-861A52BF0E89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6466602" y="2916125"/>
                      <a:ext cx="29880" cy="1476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</p:grp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7222AD0-F11F-6504-FB4D-959EE399DC9F}"/>
              </a:ext>
            </a:extLst>
          </p:cNvPr>
          <p:cNvSpPr txBox="1"/>
          <p:nvPr/>
        </p:nvSpPr>
        <p:spPr>
          <a:xfrm>
            <a:off x="576496" y="3826689"/>
            <a:ext cx="26212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Sensor Frame</a:t>
            </a:r>
          </a:p>
          <a:p>
            <a:r>
              <a:rPr lang="en-US" altLang="zh-TW" dirty="0"/>
              <a:t>IRIS:</a:t>
            </a:r>
            <a:r>
              <a:rPr lang="zh-TW" altLang="en-US" dirty="0"/>
              <a:t> 由</a:t>
            </a:r>
            <a:r>
              <a:rPr lang="en-US" altLang="zh-TW" dirty="0"/>
              <a:t>coil</a:t>
            </a:r>
            <a:r>
              <a:rPr lang="zh-TW" altLang="en-US" dirty="0"/>
              <a:t>方向決定</a:t>
            </a:r>
            <a:endParaRPr lang="en-US" altLang="zh-TW" dirty="0"/>
          </a:p>
          <a:p>
            <a:r>
              <a:rPr lang="en-US" altLang="zh-TW" dirty="0"/>
              <a:t>HARS:</a:t>
            </a:r>
            <a:r>
              <a:rPr lang="zh-TW" altLang="en-US" dirty="0"/>
              <a:t> 由</a:t>
            </a:r>
            <a:r>
              <a:rPr lang="en-US" altLang="zh-TW" dirty="0"/>
              <a:t>PCB</a:t>
            </a:r>
            <a:r>
              <a:rPr lang="zh-TW" altLang="en-US" dirty="0"/>
              <a:t>上</a:t>
            </a:r>
            <a:r>
              <a:rPr lang="en-US" altLang="zh-TW" dirty="0"/>
              <a:t>IMU</a:t>
            </a:r>
            <a:r>
              <a:rPr lang="zh-TW" altLang="en-US" dirty="0"/>
              <a:t>決定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2B7C15F-F43D-9C68-CB43-B45EAD504A94}"/>
              </a:ext>
            </a:extLst>
          </p:cNvPr>
          <p:cNvSpPr txBox="1"/>
          <p:nvPr/>
        </p:nvSpPr>
        <p:spPr>
          <a:xfrm>
            <a:off x="4572005" y="3979835"/>
            <a:ext cx="14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Case Frame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BBC1F80E-1E56-EDB9-52BE-DA7F1F4A1885}"/>
              </a:ext>
            </a:extLst>
          </p:cNvPr>
          <p:cNvGrpSpPr/>
          <p:nvPr/>
        </p:nvGrpSpPr>
        <p:grpSpPr>
          <a:xfrm>
            <a:off x="4313357" y="1063844"/>
            <a:ext cx="2571371" cy="1712700"/>
            <a:chOff x="8776906" y="1523279"/>
            <a:chExt cx="2571371" cy="1712700"/>
          </a:xfrm>
        </p:grpSpPr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3523FC3E-520D-9C0D-FE85-A934D31C8EAA}"/>
                </a:ext>
              </a:extLst>
            </p:cNvPr>
            <p:cNvGrpSpPr/>
            <p:nvPr/>
          </p:nvGrpSpPr>
          <p:grpSpPr>
            <a:xfrm>
              <a:off x="8776906" y="1811012"/>
              <a:ext cx="1726741" cy="1424967"/>
              <a:chOff x="9438743" y="1647502"/>
              <a:chExt cx="1726741" cy="1424967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245C7FA9-E131-B39A-A95D-5659E3E834FC}"/>
                  </a:ext>
                </a:extLst>
              </p:cNvPr>
              <p:cNvSpPr/>
              <p:nvPr/>
            </p:nvSpPr>
            <p:spPr>
              <a:xfrm>
                <a:off x="9438743" y="1647502"/>
                <a:ext cx="1726741" cy="11431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ysClr val="windowText" lastClr="000000"/>
                    </a:solidFill>
                  </a:rPr>
                  <a:t>IRIS</a:t>
                </a:r>
              </a:p>
              <a:p>
                <a:pPr algn="ctr"/>
                <a:r>
                  <a:rPr lang="en-US" altLang="zh-TW" dirty="0">
                    <a:solidFill>
                      <a:sysClr val="windowText" lastClr="000000"/>
                    </a:solidFill>
                  </a:rPr>
                  <a:t>HARS</a:t>
                </a: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B8A24D9C-53F5-2F8F-EB82-40EA8502A4F6}"/>
                  </a:ext>
                </a:extLst>
              </p:cNvPr>
              <p:cNvSpPr/>
              <p:nvPr/>
            </p:nvSpPr>
            <p:spPr>
              <a:xfrm>
                <a:off x="10028084" y="2790642"/>
                <a:ext cx="541020" cy="19878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0620FA65-AD58-CB65-628D-57B645DEFB09}"/>
                  </a:ext>
                </a:extLst>
              </p:cNvPr>
              <p:cNvSpPr txBox="1"/>
              <p:nvPr/>
            </p:nvSpPr>
            <p:spPr>
              <a:xfrm>
                <a:off x="10569104" y="2795470"/>
                <a:ext cx="5565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Conn.</a:t>
                </a:r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0EA0D250-E2B4-FD40-BA24-32CDEA7D8108}"/>
                </a:ext>
              </a:extLst>
            </p:cNvPr>
            <p:cNvGrpSpPr/>
            <p:nvPr/>
          </p:nvGrpSpPr>
          <p:grpSpPr>
            <a:xfrm>
              <a:off x="9909706" y="1523279"/>
              <a:ext cx="1438571" cy="1398825"/>
              <a:chOff x="5299136" y="1470483"/>
              <a:chExt cx="1438571" cy="1398825"/>
            </a:xfrm>
          </p:grpSpPr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A85607C7-A9F6-71D2-139E-1E503B18285F}"/>
                  </a:ext>
                </a:extLst>
              </p:cNvPr>
              <p:cNvCxnSpPr/>
              <p:nvPr/>
            </p:nvCxnSpPr>
            <p:spPr>
              <a:xfrm rot="10800000">
                <a:off x="5460324" y="1839815"/>
                <a:ext cx="0" cy="8448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>
                <a:extLst>
                  <a:ext uri="{FF2B5EF4-FFF2-40B4-BE49-F238E27FC236}">
                    <a16:creationId xmlns:a16="http://schemas.microsoft.com/office/drawing/2014/main" id="{0164570C-AAD2-4575-2336-4D4ECCD122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60325" y="2690660"/>
                <a:ext cx="1000764" cy="39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8645A4D2-A259-1223-E889-39FCF2785E64}"/>
                  </a:ext>
                </a:extLst>
              </p:cNvPr>
              <p:cNvSpPr txBox="1"/>
              <p:nvPr/>
            </p:nvSpPr>
            <p:spPr>
              <a:xfrm>
                <a:off x="5299136" y="1470483"/>
                <a:ext cx="423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ysClr val="windowText" lastClr="000000"/>
                    </a:solidFill>
                  </a:rPr>
                  <a:t>Y</a:t>
                </a:r>
                <a:endParaRPr lang="zh-TW" altLang="en-US" dirty="0"/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F5D96DD-5A89-1ACF-6702-1349B5785732}"/>
                  </a:ext>
                </a:extLst>
              </p:cNvPr>
              <p:cNvSpPr txBox="1"/>
              <p:nvPr/>
            </p:nvSpPr>
            <p:spPr>
              <a:xfrm rot="10800000">
                <a:off x="6314067" y="2499976"/>
                <a:ext cx="423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ysClr val="windowText" lastClr="000000"/>
                    </a:solidFill>
                  </a:rPr>
                  <a:t>X</a:t>
                </a:r>
                <a:endParaRPr lang="zh-TW" altLang="en-US" dirty="0"/>
              </a:p>
            </p:txBody>
          </p:sp>
          <p:grpSp>
            <p:nvGrpSpPr>
              <p:cNvPr id="24" name="群組 23">
                <a:extLst>
                  <a:ext uri="{FF2B5EF4-FFF2-40B4-BE49-F238E27FC236}">
                    <a16:creationId xmlns:a16="http://schemas.microsoft.com/office/drawing/2014/main" id="{ED2D1713-CF29-63D1-7FF3-B8654E51156E}"/>
                  </a:ext>
                </a:extLst>
              </p:cNvPr>
              <p:cNvGrpSpPr/>
              <p:nvPr/>
            </p:nvGrpSpPr>
            <p:grpSpPr>
              <a:xfrm rot="10800000">
                <a:off x="5346024" y="2605128"/>
                <a:ext cx="228600" cy="198783"/>
                <a:chOff x="6370983" y="2832652"/>
                <a:chExt cx="228600" cy="198783"/>
              </a:xfrm>
            </p:grpSpPr>
            <p:sp>
              <p:nvSpPr>
                <p:cNvPr id="25" name="橢圓 24">
                  <a:extLst>
                    <a:ext uri="{FF2B5EF4-FFF2-40B4-BE49-F238E27FC236}">
                      <a16:creationId xmlns:a16="http://schemas.microsoft.com/office/drawing/2014/main" id="{47AB793B-3792-917A-4345-31419F0EF837}"/>
                    </a:ext>
                  </a:extLst>
                </p:cNvPr>
                <p:cNvSpPr/>
                <p:nvPr/>
              </p:nvSpPr>
              <p:spPr>
                <a:xfrm>
                  <a:off x="6370983" y="2832652"/>
                  <a:ext cx="228600" cy="198783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6">
                  <p14:nvContentPartPr>
                    <p14:cNvPr id="26" name="筆跡 25">
                      <a:extLst>
                        <a:ext uri="{FF2B5EF4-FFF2-40B4-BE49-F238E27FC236}">
                          <a16:creationId xmlns:a16="http://schemas.microsoft.com/office/drawing/2014/main" id="{0314B432-857D-6611-A4D1-159CDC8C46C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480282" y="2931965"/>
                    <a:ext cx="360" cy="360"/>
                  </p14:xfrm>
                </p:contentPart>
              </mc:Choice>
              <mc:Fallback xmlns="">
                <p:pic>
                  <p:nvPicPr>
                    <p:cNvPr id="26" name="筆跡 25">
                      <a:extLst>
                        <a:ext uri="{FF2B5EF4-FFF2-40B4-BE49-F238E27FC236}">
                          <a16:creationId xmlns:a16="http://schemas.microsoft.com/office/drawing/2014/main" id="{DDBAA707-401A-A2E8-7274-18BAA5CA2BDE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6474162" y="2925845"/>
                      <a:ext cx="12600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">
                  <p14:nvContentPartPr>
                    <p14:cNvPr id="27" name="筆跡 26">
                      <a:extLst>
                        <a:ext uri="{FF2B5EF4-FFF2-40B4-BE49-F238E27FC236}">
                          <a16:creationId xmlns:a16="http://schemas.microsoft.com/office/drawing/2014/main" id="{AED5000C-B2CC-DE46-A717-9CA33214DCB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472722" y="2922245"/>
                    <a:ext cx="17640" cy="2520"/>
                  </p14:xfrm>
                </p:contentPart>
              </mc:Choice>
              <mc:Fallback xmlns="">
                <p:pic>
                  <p:nvPicPr>
                    <p:cNvPr id="27" name="筆跡 26">
                      <a:extLst>
                        <a:ext uri="{FF2B5EF4-FFF2-40B4-BE49-F238E27FC236}">
                          <a16:creationId xmlns:a16="http://schemas.microsoft.com/office/drawing/2014/main" id="{3A7AB134-3191-CE1B-5930-6EA89671502D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6466602" y="2916125"/>
                      <a:ext cx="29880" cy="1476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EB59842C-3A32-40FE-A652-72226F7AB7F6}"/>
              </a:ext>
            </a:extLst>
          </p:cNvPr>
          <p:cNvSpPr/>
          <p:nvPr/>
        </p:nvSpPr>
        <p:spPr>
          <a:xfrm>
            <a:off x="8808736" y="1486905"/>
            <a:ext cx="2094489" cy="6064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get_raw_data()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66A206-6E7E-CD43-4696-0F6FA9888CA3}"/>
              </a:ext>
            </a:extLst>
          </p:cNvPr>
          <p:cNvSpPr/>
          <p:nvPr/>
        </p:nvSpPr>
        <p:spPr>
          <a:xfrm>
            <a:off x="8808736" y="2822568"/>
            <a:ext cx="2094489" cy="6064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frame_rotate()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0097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55AC6-C8E9-549F-35A0-3D01CD1F4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8870AE3-11D3-7DE4-1F69-61584D3D9348}"/>
              </a:ext>
            </a:extLst>
          </p:cNvPr>
          <p:cNvSpPr txBox="1"/>
          <p:nvPr/>
        </p:nvSpPr>
        <p:spPr>
          <a:xfrm>
            <a:off x="457200" y="419878"/>
            <a:ext cx="2799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09/15/2025</a:t>
            </a:r>
            <a:r>
              <a:rPr lang="zh-TW" altLang="en-US" dirty="0"/>
              <a:t> </a:t>
            </a:r>
            <a:r>
              <a:rPr lang="zh-TW" altLang="en-US"/>
              <a:t>更新</a:t>
            </a:r>
            <a:r>
              <a:rPr lang="en-US" altLang="zh-TW"/>
              <a:t>MCU</a:t>
            </a:r>
            <a:r>
              <a:rPr lang="zh-TW" altLang="en-US"/>
              <a:t>程式</a:t>
            </a:r>
          </a:p>
        </p:txBody>
      </p:sp>
    </p:spTree>
    <p:extLst>
      <p:ext uri="{BB962C8B-B14F-4D97-AF65-F5344CB8AC3E}">
        <p14:creationId xmlns:p14="http://schemas.microsoft.com/office/powerpoint/2010/main" val="1622256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C323A-0E32-74E9-38EB-E4D0E241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319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1760-ED95-1361-1074-F3376CCD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511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613</Words>
  <Application>Microsoft Office PowerPoint</Application>
  <PresentationFormat>寬螢幕</PresentationFormat>
  <Paragraphs>90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微軟正黑體</vt:lpstr>
      <vt:lpstr>Aptos</vt:lpstr>
      <vt:lpstr>Aptos Display</vt:lpstr>
      <vt:lpstr>Arial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Adam Shiau</cp:lastModifiedBy>
  <cp:revision>18</cp:revision>
  <dcterms:created xsi:type="dcterms:W3CDTF">2025-09-02T15:22:48Z</dcterms:created>
  <dcterms:modified xsi:type="dcterms:W3CDTF">2025-12-08T07:17:46Z</dcterms:modified>
</cp:coreProperties>
</file>