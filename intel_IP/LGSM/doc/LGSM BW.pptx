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1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AF39F1-759B-6DE6-3679-1F8ABB8AED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B96B025-61E8-F027-6A26-07F934183B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C8D58AB-22D5-BD08-8B8B-E8BE4983C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65F6-423D-4142-A604-D1F95CB3D941}" type="datetimeFigureOut">
              <a:rPr lang="zh-TW" altLang="en-US" smtClean="0"/>
              <a:t>2026/3/16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C88C7FE-66BC-3F9F-1266-5D2649299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3A1FD91-7399-C42C-AC96-46C21F964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2B215-8965-4FC0-9B6C-3B64DF8136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3691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81EBE4-9D0C-8888-356B-476606FF5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AB0DB48-C05D-2386-BC1B-DE80F2DAD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E71B13A-231A-3250-6B4F-4B8CEFD55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65F6-423D-4142-A604-D1F95CB3D941}" type="datetimeFigureOut">
              <a:rPr lang="zh-TW" altLang="en-US" smtClean="0"/>
              <a:t>2026/3/16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997D11A-BA76-6DA1-27EA-B6C0CF5DC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3EE3FD7-B83E-F600-3C4C-EC17ABA10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2B215-8965-4FC0-9B6C-3B64DF8136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918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096924-9512-22B6-2916-B2E87B55F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0270774-D89F-4F70-C321-29BAB7C276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9E64299-C246-B6E4-26A6-D3FA9049A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65F6-423D-4142-A604-D1F95CB3D941}" type="datetimeFigureOut">
              <a:rPr lang="zh-TW" altLang="en-US" smtClean="0"/>
              <a:t>2026/3/16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570F29C-911B-1ADC-3600-0895523E1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5B38EE9-76AD-7CC4-3567-40408BDF5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2B215-8965-4FC0-9B6C-3B64DF8136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3958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6EB6F5-E831-98EA-E184-32C9C1348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B326D7A-6348-3E3A-E0E1-B94CB2B051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670A44C-3595-7C94-313C-2449E2CCF6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39E73D1-9BEF-F8A1-12D4-C320635E4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65F6-423D-4142-A604-D1F95CB3D941}" type="datetimeFigureOut">
              <a:rPr lang="zh-TW" altLang="en-US" smtClean="0"/>
              <a:t>2026/3/16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7A495DB-2931-E48B-1397-ED4DB5965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ABFC90A-D1A1-FA1F-305A-606133EDC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2B215-8965-4FC0-9B6C-3B64DF8136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8719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C96149-41CC-9326-F29D-9D95B653A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61DC375-5E4A-B5C3-1A47-47F421A4B3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90C9EA5-4A71-C625-AC88-9749FA909B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CB9FCEA-2D11-244D-5084-B08467E786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A5951DA-C463-E5C6-1D59-4B6C8B8DED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63BB58B7-E5B8-E855-4902-2F8B5027B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65F6-423D-4142-A604-D1F95CB3D941}" type="datetimeFigureOut">
              <a:rPr lang="zh-TW" altLang="en-US" smtClean="0"/>
              <a:t>2026/3/16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1A96121-61A1-D134-96F3-CFF870918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AFC6B87C-6738-ED08-5A76-CBFB9F1D3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2B215-8965-4FC0-9B6C-3B64DF8136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3836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1DC494-17C3-C7DF-DBE4-26BE02D09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522ADBA-68E6-7B2C-6047-16CB14D33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65F6-423D-4142-A604-D1F95CB3D941}" type="datetimeFigureOut">
              <a:rPr lang="zh-TW" altLang="en-US" smtClean="0"/>
              <a:t>2026/3/16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04E5D08-5974-8F17-725B-047D2A55A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BE7B16C-BF9D-0983-98AC-0AD944041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2B215-8965-4FC0-9B6C-3B64DF8136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6711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216D694-97AE-439B-7677-BE87F119C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65F6-423D-4142-A604-D1F95CB3D941}" type="datetimeFigureOut">
              <a:rPr lang="zh-TW" altLang="en-US" smtClean="0"/>
              <a:t>2026/3/16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35ECEC9-C37E-FD5B-9739-8079CA1A0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7406D33-2D90-D3A0-4BD2-743C7F1E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2B215-8965-4FC0-9B6C-3B64DF8136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8768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55C450-B28F-3AAC-02F2-85C6B136C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0A10A54-31C8-B9A5-1F91-243E7ADAC0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139F63B-A544-8445-9D4C-86582C4F2B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56CF0FA-9BBF-4883-943A-A76291DA3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65F6-423D-4142-A604-D1F95CB3D941}" type="datetimeFigureOut">
              <a:rPr lang="zh-TW" altLang="en-US" smtClean="0"/>
              <a:t>2026/3/16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A749EFF-2470-D3CC-E2D5-B9C87A5CD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0637C43-90DD-2BBE-BA88-CFEE15D04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2B215-8965-4FC0-9B6C-3B64DF8136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1271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9B6F91-98C3-36BA-D9D2-D538A6257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1710A11-BCEC-6A46-5317-30F97EC157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7C64CDA-025E-B2B8-61CF-AAEE590397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0870B68-25D2-E654-A30E-43C2DCF96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65F6-423D-4142-A604-D1F95CB3D941}" type="datetimeFigureOut">
              <a:rPr lang="zh-TW" altLang="en-US" smtClean="0"/>
              <a:t>2026/3/16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B4F4000-5AE1-994F-2EF0-292F82B8A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AD85A44-DB6F-600A-E6E5-A37CFCC0D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2B215-8965-4FC0-9B6C-3B64DF8136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8939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A46195-24D4-E2C9-4614-D5E713534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F6ABC23-FFD6-1A05-7911-BBD894174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FAB681A-DA29-4544-D901-8EA1844C6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65F6-423D-4142-A604-D1F95CB3D941}" type="datetimeFigureOut">
              <a:rPr lang="zh-TW" altLang="en-US" smtClean="0"/>
              <a:t>2026/3/16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7ABDDA2-C52B-A671-F7BC-C82F04B87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B53DF82-E7A3-79D2-77B5-D41CB7DBC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2B215-8965-4FC0-9B6C-3B64DF8136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4659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EFAD53A-1A4E-4160-E4C2-E11192B237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DF7A66B-B15B-813C-949C-2FB2F4053A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CBBEE34-C2F2-C598-1F7B-1AEB9FE01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65F6-423D-4142-A604-D1F95CB3D941}" type="datetimeFigureOut">
              <a:rPr lang="zh-TW" altLang="en-US" smtClean="0"/>
              <a:t>2026/3/16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B4337DB-AF1C-780E-CA03-7F159F773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0AA88B0-26D7-DD35-BEF8-CC5F9E423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2B215-8965-4FC0-9B6C-3B64DF8136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8654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4BD4DF3-810A-93C6-9E77-1FA540696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5CF9A89-A1E0-9DEF-A269-F97B8E5B7C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C7666DA-8C9A-20FD-3F98-CFC1D7B827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7265F6-423D-4142-A604-D1F95CB3D941}" type="datetimeFigureOut">
              <a:rPr lang="zh-TW" altLang="en-US" smtClean="0"/>
              <a:t>2026/3/16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378C9AC-1BFB-ECC8-0A1E-F3527B5752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06C8D22-C50B-C37E-519F-84A9539199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12B215-8965-4FC0-9B6C-3B64DF8136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8490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60F3D-0CFF-6450-2E5C-54B3E096B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6EF7A11-359B-F5FF-B3BC-010BA4BB4677}"/>
              </a:ext>
            </a:extLst>
          </p:cNvPr>
          <p:cNvSpPr/>
          <p:nvPr/>
        </p:nvSpPr>
        <p:spPr>
          <a:xfrm>
            <a:off x="1478685" y="1000702"/>
            <a:ext cx="1283854" cy="10483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</a:rPr>
              <a:t>MEMS</a:t>
            </a:r>
            <a:r>
              <a:rPr lang="zh-TW" altLang="en-US" dirty="0">
                <a:solidFill>
                  <a:sysClr val="windowText" lastClr="000000"/>
                </a:solidFill>
              </a:rPr>
              <a:t> </a:t>
            </a:r>
            <a:r>
              <a:rPr lang="en-US" altLang="zh-TW" dirty="0">
                <a:solidFill>
                  <a:sysClr val="windowText" lastClr="000000"/>
                </a:solidFill>
              </a:rPr>
              <a:t>GYRO</a:t>
            </a:r>
            <a:endParaRPr lang="zh-TW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EEE5EC1-EABA-DFC1-635F-0A0994D72947}"/>
              </a:ext>
            </a:extLst>
          </p:cNvPr>
          <p:cNvSpPr/>
          <p:nvPr/>
        </p:nvSpPr>
        <p:spPr>
          <a:xfrm>
            <a:off x="2762539" y="1000702"/>
            <a:ext cx="954810" cy="10344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LPF</a:t>
            </a:r>
          </a:p>
          <a:p>
            <a:pPr algn="ctr"/>
            <a:r>
              <a:rPr lang="en-US" altLang="zh-TW" dirty="0">
                <a:solidFill>
                  <a:schemeClr val="tx1"/>
                </a:solidFill>
              </a:rPr>
              <a:t>(48 Hz)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C5CF117-94A0-A1FE-8242-ADAA7081DB33}"/>
              </a:ext>
            </a:extLst>
          </p:cNvPr>
          <p:cNvSpPr/>
          <p:nvPr/>
        </p:nvSpPr>
        <p:spPr>
          <a:xfrm>
            <a:off x="1478685" y="2418022"/>
            <a:ext cx="1283854" cy="10483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</a:rPr>
              <a:t>MEMS</a:t>
            </a:r>
            <a:r>
              <a:rPr lang="zh-TW" altLang="en-US" dirty="0">
                <a:solidFill>
                  <a:sysClr val="windowText" lastClr="000000"/>
                </a:solidFill>
              </a:rPr>
              <a:t> </a:t>
            </a:r>
            <a:r>
              <a:rPr lang="en-US" altLang="zh-TW" dirty="0">
                <a:solidFill>
                  <a:sysClr val="windowText" lastClr="000000"/>
                </a:solidFill>
              </a:rPr>
              <a:t>ACCL</a:t>
            </a:r>
            <a:endParaRPr lang="zh-TW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0E0B25-D072-20BB-3A3D-4FAC4CC96E4D}"/>
              </a:ext>
            </a:extLst>
          </p:cNvPr>
          <p:cNvSpPr/>
          <p:nvPr/>
        </p:nvSpPr>
        <p:spPr>
          <a:xfrm>
            <a:off x="2762538" y="2418022"/>
            <a:ext cx="1017731" cy="10344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LPF</a:t>
            </a:r>
          </a:p>
          <a:p>
            <a:pPr algn="ctr"/>
            <a:r>
              <a:rPr lang="en-US" altLang="zh-TW" dirty="0">
                <a:solidFill>
                  <a:schemeClr val="tx1"/>
                </a:solidFill>
              </a:rPr>
              <a:t>(41.6 Hz)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68493A0-751E-0628-9D84-FF5A908DB0E4}"/>
              </a:ext>
            </a:extLst>
          </p:cNvPr>
          <p:cNvSpPr/>
          <p:nvPr/>
        </p:nvSpPr>
        <p:spPr>
          <a:xfrm>
            <a:off x="1478685" y="4621818"/>
            <a:ext cx="1283854" cy="10483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</a:rPr>
              <a:t>FOG</a:t>
            </a:r>
            <a:endParaRPr lang="zh-TW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6AF0717-8194-BFD8-0790-9C77BB995672}"/>
              </a:ext>
            </a:extLst>
          </p:cNvPr>
          <p:cNvSpPr/>
          <p:nvPr/>
        </p:nvSpPr>
        <p:spPr>
          <a:xfrm>
            <a:off x="2762539" y="4621818"/>
            <a:ext cx="954810" cy="10344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LPF</a:t>
            </a:r>
          </a:p>
          <a:p>
            <a:pPr algn="ctr"/>
            <a:r>
              <a:rPr lang="en-US" altLang="zh-TW" dirty="0">
                <a:solidFill>
                  <a:schemeClr val="tx1"/>
                </a:solidFill>
              </a:rPr>
              <a:t>(100 Hz)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73059B3-77F4-3C6D-8959-62009412AA21}"/>
              </a:ext>
            </a:extLst>
          </p:cNvPr>
          <p:cNvSpPr/>
          <p:nvPr/>
        </p:nvSpPr>
        <p:spPr>
          <a:xfrm>
            <a:off x="5143789" y="2418021"/>
            <a:ext cx="1380836" cy="15729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SYNC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0" name="接點: 肘形 9">
            <a:extLst>
              <a:ext uri="{FF2B5EF4-FFF2-40B4-BE49-F238E27FC236}">
                <a16:creationId xmlns:a16="http://schemas.microsoft.com/office/drawing/2014/main" id="{D4B281C1-D253-2133-7766-3476738B0489}"/>
              </a:ext>
            </a:extLst>
          </p:cNvPr>
          <p:cNvCxnSpPr>
            <a:stCxn id="8" idx="1"/>
            <a:endCxn id="2" idx="0"/>
          </p:cNvCxnSpPr>
          <p:nvPr/>
        </p:nvCxnSpPr>
        <p:spPr>
          <a:xfrm rot="10800000">
            <a:off x="2120613" y="1000702"/>
            <a:ext cx="3023177" cy="2203796"/>
          </a:xfrm>
          <a:prstGeom prst="bentConnector4">
            <a:avLst>
              <a:gd name="adj1" fmla="val 39383"/>
              <a:gd name="adj2" fmla="val 11037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接點: 肘形 11">
            <a:extLst>
              <a:ext uri="{FF2B5EF4-FFF2-40B4-BE49-F238E27FC236}">
                <a16:creationId xmlns:a16="http://schemas.microsoft.com/office/drawing/2014/main" id="{4A2FCEB2-3991-1455-FDE6-47B56DC06192}"/>
              </a:ext>
            </a:extLst>
          </p:cNvPr>
          <p:cNvCxnSpPr>
            <a:stCxn id="8" idx="1"/>
            <a:endCxn id="4" idx="2"/>
          </p:cNvCxnSpPr>
          <p:nvPr/>
        </p:nvCxnSpPr>
        <p:spPr>
          <a:xfrm rot="10800000" flipV="1">
            <a:off x="2120613" y="3204498"/>
            <a:ext cx="3023177" cy="261852"/>
          </a:xfrm>
          <a:prstGeom prst="bentConnector4">
            <a:avLst>
              <a:gd name="adj1" fmla="val 39383"/>
              <a:gd name="adj2" fmla="val 38765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接點: 肘形 13">
            <a:extLst>
              <a:ext uri="{FF2B5EF4-FFF2-40B4-BE49-F238E27FC236}">
                <a16:creationId xmlns:a16="http://schemas.microsoft.com/office/drawing/2014/main" id="{2EA8C981-2B62-FD35-A466-9168B8DAB4DA}"/>
              </a:ext>
            </a:extLst>
          </p:cNvPr>
          <p:cNvCxnSpPr>
            <a:stCxn id="8" idx="1"/>
            <a:endCxn id="6" idx="2"/>
          </p:cNvCxnSpPr>
          <p:nvPr/>
        </p:nvCxnSpPr>
        <p:spPr>
          <a:xfrm rot="10800000" flipV="1">
            <a:off x="2120613" y="3204498"/>
            <a:ext cx="3023177" cy="2465648"/>
          </a:xfrm>
          <a:prstGeom prst="bentConnector4">
            <a:avLst>
              <a:gd name="adj1" fmla="val 39383"/>
              <a:gd name="adj2" fmla="val 10927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51A6BF2C-0D72-B486-0DD9-91F66837F5E1}"/>
              </a:ext>
            </a:extLst>
          </p:cNvPr>
          <p:cNvSpPr txBox="1"/>
          <p:nvPr/>
        </p:nvSpPr>
        <p:spPr>
          <a:xfrm>
            <a:off x="4176858" y="1402699"/>
            <a:ext cx="3314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每個 </a:t>
            </a:r>
            <a:r>
              <a:rPr lang="en-US" altLang="zh-TW" dirty="0"/>
              <a:t>Sensor LPF</a:t>
            </a:r>
            <a:r>
              <a:rPr lang="zh-TW" altLang="en-US" dirty="0"/>
              <a:t>後的</a:t>
            </a:r>
            <a:r>
              <a:rPr lang="en-US" altLang="zh-TW" dirty="0"/>
              <a:t>BW</a:t>
            </a:r>
            <a:r>
              <a:rPr lang="zh-TW" altLang="en-US" dirty="0"/>
              <a:t> 需 </a:t>
            </a:r>
            <a:r>
              <a:rPr lang="en-US" altLang="zh-TW" dirty="0"/>
              <a:t>&lt;= (SYNC </a:t>
            </a:r>
            <a:r>
              <a:rPr lang="en-US" altLang="zh-TW" dirty="0" err="1"/>
              <a:t>freq</a:t>
            </a:r>
            <a:r>
              <a:rPr lang="en-US" altLang="zh-TW" dirty="0"/>
              <a:t>)/2</a:t>
            </a:r>
            <a:endParaRPr lang="zh-TW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B83D70C-2937-498D-6C82-B106B0DED6D4}"/>
              </a:ext>
            </a:extLst>
          </p:cNvPr>
          <p:cNvSpPr/>
          <p:nvPr/>
        </p:nvSpPr>
        <p:spPr>
          <a:xfrm>
            <a:off x="9640744" y="2656810"/>
            <a:ext cx="1380836" cy="15729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MIC </a:t>
            </a:r>
            <a:r>
              <a:rPr lang="zh-TW" altLang="en-US" dirty="0">
                <a:solidFill>
                  <a:schemeClr val="tx1"/>
                </a:solidFill>
              </a:rPr>
              <a:t>可再對各 </a:t>
            </a:r>
            <a:r>
              <a:rPr lang="en-US" altLang="zh-TW" dirty="0">
                <a:solidFill>
                  <a:schemeClr val="tx1"/>
                </a:solidFill>
              </a:rPr>
              <a:t>sensor</a:t>
            </a:r>
            <a:r>
              <a:rPr lang="zh-TW" altLang="en-US" dirty="0">
                <a:solidFill>
                  <a:schemeClr val="tx1"/>
                </a:solidFill>
              </a:rPr>
              <a:t> 單獨一階 </a:t>
            </a:r>
            <a:r>
              <a:rPr lang="en-US" altLang="zh-TW" dirty="0">
                <a:solidFill>
                  <a:schemeClr val="tx1"/>
                </a:solidFill>
              </a:rPr>
              <a:t>LPF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F198696-8C6F-BAA0-9825-85EA311C3385}"/>
              </a:ext>
            </a:extLst>
          </p:cNvPr>
          <p:cNvSpPr/>
          <p:nvPr/>
        </p:nvSpPr>
        <p:spPr>
          <a:xfrm>
            <a:off x="523875" y="314325"/>
            <a:ext cx="7753350" cy="62579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8CBF4DEE-7D55-973B-0CF0-7AE499907466}"/>
              </a:ext>
            </a:extLst>
          </p:cNvPr>
          <p:cNvSpPr txBox="1"/>
          <p:nvPr/>
        </p:nvSpPr>
        <p:spPr>
          <a:xfrm>
            <a:off x="7343775" y="412980"/>
            <a:ext cx="735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FPGA</a:t>
            </a:r>
            <a:endParaRPr lang="zh-TW" altLang="en-US" dirty="0"/>
          </a:p>
        </p:txBody>
      </p: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86DAC774-4B84-5E45-A08A-ACF0E6055A75}"/>
              </a:ext>
            </a:extLst>
          </p:cNvPr>
          <p:cNvCxnSpPr>
            <a:stCxn id="20" idx="3"/>
            <a:endCxn id="17" idx="1"/>
          </p:cNvCxnSpPr>
          <p:nvPr/>
        </p:nvCxnSpPr>
        <p:spPr>
          <a:xfrm flipV="1">
            <a:off x="8277225" y="3443287"/>
            <a:ext cx="136351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06E53BD-AB44-811D-9BB7-051203D2A8F6}"/>
              </a:ext>
            </a:extLst>
          </p:cNvPr>
          <p:cNvSpPr txBox="1"/>
          <p:nvPr/>
        </p:nvSpPr>
        <p:spPr>
          <a:xfrm>
            <a:off x="4126058" y="2835506"/>
            <a:ext cx="9669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chemeClr val="tx1"/>
                </a:solidFill>
              </a:rPr>
              <a:t>200 Hz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34387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570EF957-53AF-B014-8D21-6D96E194B52B}"/>
                  </a:ext>
                </a:extLst>
              </p:cNvPr>
              <p:cNvSpPr txBox="1"/>
              <p:nvPr/>
            </p:nvSpPr>
            <p:spPr>
              <a:xfrm>
                <a:off x="1978839" y="1381538"/>
                <a:ext cx="7466468" cy="8527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𝐶𝐹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TW" alt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zh-TW" alt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𝑠𝑎𝑚𝑝𝑙𝑖𝑛𝑔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𝑟𝑎𝑡𝑒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𝑑𝑎𝑡𝑎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𝑟𝑎𝑡𝑒</m:t>
                          </m:r>
                        </m:den>
                      </m:f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𝐶𝐹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𝑐𝑢𝑡𝑜𝑓𝑓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𝑓𝑟𝑒𝑞𝑢𝑒𝑛𝑐𝑦</m:t>
                      </m:r>
                    </m:oMath>
                  </m:oMathPara>
                </a14:m>
                <a:endParaRPr lang="en-US" altLang="zh-TW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570EF957-53AF-B014-8D21-6D96E194B5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8839" y="1381538"/>
                <a:ext cx="7466468" cy="85273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4C653938-2FE4-9DAA-9D89-685E92E37168}"/>
                  </a:ext>
                </a:extLst>
              </p:cNvPr>
              <p:cNvSpPr txBox="1"/>
              <p:nvPr/>
            </p:nvSpPr>
            <p:spPr>
              <a:xfrm>
                <a:off x="1885876" y="2426153"/>
                <a:ext cx="1995354" cy="8537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TW" alt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𝐶𝐹</m:t>
                              </m:r>
                            </m:sub>
                          </m:s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1+2</m:t>
                          </m:r>
                          <m:r>
                            <a:rPr lang="zh-TW" alt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𝐶𝐹</m:t>
                              </m:r>
                            </m:sub>
                          </m:s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/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altLang="zh-TW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4C653938-2FE4-9DAA-9D89-685E92E371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5876" y="2426153"/>
                <a:ext cx="1995354" cy="8537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4023381D-F2B6-3B41-2C9F-D80CE8F1E9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5133699"/>
              </p:ext>
            </p:extLst>
          </p:nvPr>
        </p:nvGraphicFramePr>
        <p:xfrm>
          <a:off x="1813339" y="3429000"/>
          <a:ext cx="5418666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783131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5814693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DR = 200 Hz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1140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BW (Hz): disable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Alpha = 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1608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50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0.611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5383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0.386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6625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0.239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8971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0.136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9618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0.031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4408132"/>
                  </a:ext>
                </a:extLst>
              </a:tr>
            </a:tbl>
          </a:graphicData>
        </a:graphic>
      </p:graphicFrame>
      <p:pic>
        <p:nvPicPr>
          <p:cNvPr id="12" name="圖片 11">
            <a:extLst>
              <a:ext uri="{FF2B5EF4-FFF2-40B4-BE49-F238E27FC236}">
                <a16:creationId xmlns:a16="http://schemas.microsoft.com/office/drawing/2014/main" id="{A274B487-FA64-4617-4524-42954F46CA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5530" y="4338320"/>
            <a:ext cx="4016972" cy="1138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502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</TotalTime>
  <Words>88</Words>
  <Application>Microsoft Office PowerPoint</Application>
  <PresentationFormat>寬螢幕</PresentationFormat>
  <Paragraphs>29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Office 佈景主題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Adam Shiau</dc:creator>
  <cp:lastModifiedBy>Adam Shiau</cp:lastModifiedBy>
  <cp:revision>16</cp:revision>
  <dcterms:created xsi:type="dcterms:W3CDTF">2026-03-15T11:03:18Z</dcterms:created>
  <dcterms:modified xsi:type="dcterms:W3CDTF">2026-03-16T06:15:21Z</dcterms:modified>
</cp:coreProperties>
</file>